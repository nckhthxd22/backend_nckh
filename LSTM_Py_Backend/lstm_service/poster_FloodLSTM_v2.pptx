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9440144" cy="4374489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9440144" cy="43744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440144" cy="411480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14800"/>
            <a:ext cx="19440144" cy="73152"/>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274320"/>
            <a:ext cx="1828800" cy="1828800"/>
          </a:xfrm>
          <a:prstGeom prst="rect">
            <a:avLst/>
          </a:prstGeom>
          <a:solidFill>
            <a:srgbClr val="DCE6F0"/>
          </a:solidFill>
          <a:ln w="12700">
            <a:solidFill>
              <a:srgbClr val="648C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868680"/>
            <a:ext cx="1828800" cy="411480"/>
          </a:xfrm>
          <a:prstGeom prst="rect">
            <a:avLst/>
          </a:prstGeom>
          <a:noFill/>
        </p:spPr>
        <p:txBody>
          <a:bodyPr wrap="square">
            <a:spAutoFit/>
          </a:bodyPr>
          <a:lstStyle/>
          <a:p>
            <a:pPr algn="ctr"/>
            <a:r>
              <a:rPr sz="1300" b="1" i="0">
                <a:solidFill>
                  <a:srgbClr val="325A8C"/>
                </a:solidFill>
                <a:latin typeface="Calibri"/>
              </a:rPr>
              <a:t>[LOGO
ĐH BK ĐN]</a:t>
            </a:r>
          </a:p>
        </p:txBody>
      </p:sp>
      <p:sp>
        <p:nvSpPr>
          <p:cNvPr id="7" name="TextBox 6"/>
          <p:cNvSpPr txBox="1"/>
          <p:nvPr/>
        </p:nvSpPr>
        <p:spPr>
          <a:xfrm>
            <a:off x="2194560" y="256032"/>
            <a:ext cx="14630400" cy="457200"/>
          </a:xfrm>
          <a:prstGeom prst="rect">
            <a:avLst/>
          </a:prstGeom>
          <a:noFill/>
        </p:spPr>
        <p:txBody>
          <a:bodyPr wrap="square">
            <a:spAutoFit/>
          </a:bodyPr>
          <a:lstStyle/>
          <a:p>
            <a:pPr algn="ctr"/>
            <a:r>
              <a:rPr sz="1300" b="0" i="1">
                <a:solidFill>
                  <a:srgbClr val="42A5F5"/>
                </a:solidFill>
                <a:latin typeface="Calibri"/>
              </a:rPr>
              <a:t>HỘI NGHỊ KHOA HỌC SINH VIÊN – ĐẠI HỌC BÁCH KHOA ĐÀ NẴNG | 2026</a:t>
            </a:r>
          </a:p>
        </p:txBody>
      </p:sp>
      <p:sp>
        <p:nvSpPr>
          <p:cNvPr id="8" name="TextBox 7"/>
          <p:cNvSpPr txBox="1"/>
          <p:nvPr/>
        </p:nvSpPr>
        <p:spPr>
          <a:xfrm>
            <a:off x="2148840" y="731520"/>
            <a:ext cx="14813280" cy="1417320"/>
          </a:xfrm>
          <a:prstGeom prst="rect">
            <a:avLst/>
          </a:prstGeom>
          <a:noFill/>
        </p:spPr>
        <p:txBody>
          <a:bodyPr wrap="square">
            <a:spAutoFit/>
          </a:bodyPr>
          <a:lstStyle/>
          <a:p>
            <a:pPr algn="ctr"/>
            <a:r>
              <a:rPr sz="3200" b="1" i="0">
                <a:solidFill>
                  <a:srgbClr val="FFFFFF"/>
                </a:solidFill>
                <a:latin typeface="Calibri"/>
              </a:rPr>
              <a:t>DỰ BÁO LƯU LƯỢNG HỒ CHỨA XÁC SUẤT 7 NGÀY
SỬ DỤNG MÔ HÌNH FloodLSTM v2</a:t>
            </a:r>
          </a:p>
        </p:txBody>
      </p:sp>
      <p:sp>
        <p:nvSpPr>
          <p:cNvPr id="9" name="TextBox 8"/>
          <p:cNvSpPr txBox="1"/>
          <p:nvPr/>
        </p:nvSpPr>
        <p:spPr>
          <a:xfrm>
            <a:off x="2148840" y="2194560"/>
            <a:ext cx="14813280" cy="731520"/>
          </a:xfrm>
          <a:prstGeom prst="rect">
            <a:avLst/>
          </a:prstGeom>
          <a:noFill/>
        </p:spPr>
        <p:txBody>
          <a:bodyPr wrap="square">
            <a:spAutoFit/>
          </a:bodyPr>
          <a:lstStyle/>
          <a:p>
            <a:pPr algn="ctr"/>
            <a:r>
              <a:rPr sz="1450" b="0" i="1">
                <a:solidFill>
                  <a:srgbClr val="42A5F5"/>
                </a:solidFill>
                <a:latin typeface="Calibri"/>
              </a:rPr>
              <a:t>7-Day Probabilistic Reservoir Inflow Forecasting Using FloodLSTM v2
— Vu Gia – Thu Bon River Basin, Vietnam —</a:t>
            </a:r>
          </a:p>
        </p:txBody>
      </p:sp>
      <p:sp>
        <p:nvSpPr>
          <p:cNvPr id="10" name="TextBox 9"/>
          <p:cNvSpPr txBox="1"/>
          <p:nvPr/>
        </p:nvSpPr>
        <p:spPr>
          <a:xfrm>
            <a:off x="2148840" y="2999232"/>
            <a:ext cx="14813280" cy="731520"/>
          </a:xfrm>
          <a:prstGeom prst="rect">
            <a:avLst/>
          </a:prstGeom>
          <a:noFill/>
        </p:spPr>
        <p:txBody>
          <a:bodyPr wrap="square">
            <a:spAutoFit/>
          </a:bodyPr>
          <a:lstStyle/>
          <a:p>
            <a:pPr algn="ctr"/>
            <a:r>
              <a:rPr sz="1250" b="0" i="0">
                <a:solidFill>
                  <a:srgbClr val="C8E1FF"/>
                </a:solidFill>
                <a:latin typeface="Calibri"/>
              </a:rPr>
              <a:t>SVTH: Võ Nguyên An¹  ·  Vân Đức Hoàng Tiến¹  ·  Phạm Tấn Khoa¹
GVHD: TS. Nguyễn Thị Minh Anh¹</a:t>
            </a:r>
          </a:p>
        </p:txBody>
      </p:sp>
      <p:sp>
        <p:nvSpPr>
          <p:cNvPr id="11" name="TextBox 10"/>
          <p:cNvSpPr txBox="1"/>
          <p:nvPr/>
        </p:nvSpPr>
        <p:spPr>
          <a:xfrm>
            <a:off x="2148840" y="3730752"/>
            <a:ext cx="14813280" cy="320040"/>
          </a:xfrm>
          <a:prstGeom prst="rect">
            <a:avLst/>
          </a:prstGeom>
          <a:noFill/>
        </p:spPr>
        <p:txBody>
          <a:bodyPr wrap="square">
            <a:spAutoFit/>
          </a:bodyPr>
          <a:lstStyle/>
          <a:p>
            <a:pPr algn="ctr"/>
            <a:r>
              <a:rPr sz="1100" b="0" i="1">
                <a:solidFill>
                  <a:srgbClr val="A0C8FF"/>
                </a:solidFill>
                <a:latin typeface="Calibri"/>
              </a:rPr>
              <a:t>¹Khoa Kỹ thuật Xây dựng Công trình Thủy – Trường Đại học Bách Khoa Đà Nẵng</a:t>
            </a:r>
          </a:p>
        </p:txBody>
      </p:sp>
      <p:sp>
        <p:nvSpPr>
          <p:cNvPr id="12" name="Rectangle 11"/>
          <p:cNvSpPr/>
          <p:nvPr/>
        </p:nvSpPr>
        <p:spPr>
          <a:xfrm>
            <a:off x="17190720" y="274320"/>
            <a:ext cx="1920240" cy="1920240"/>
          </a:xfrm>
          <a:prstGeom prst="rect">
            <a:avLst/>
          </a:prstGeom>
          <a:solidFill>
            <a:srgbClr val="DCE6F0"/>
          </a:solidFill>
          <a:ln w="12700">
            <a:solidFill>
              <a:srgbClr val="648C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90720" y="914400"/>
            <a:ext cx="1920240" cy="411480"/>
          </a:xfrm>
          <a:prstGeom prst="rect">
            <a:avLst/>
          </a:prstGeom>
          <a:noFill/>
        </p:spPr>
        <p:txBody>
          <a:bodyPr wrap="square">
            <a:spAutoFit/>
          </a:bodyPr>
          <a:lstStyle/>
          <a:p>
            <a:pPr algn="ctr"/>
            <a:r>
              <a:rPr sz="1300" b="1" i="0">
                <a:solidFill>
                  <a:srgbClr val="325A8C"/>
                </a:solidFill>
                <a:latin typeface="Calibri"/>
              </a:rPr>
              <a:t>[QR CODE]</a:t>
            </a:r>
          </a:p>
        </p:txBody>
      </p:sp>
      <p:sp>
        <p:nvSpPr>
          <p:cNvPr id="14" name="TextBox 13"/>
          <p:cNvSpPr txBox="1"/>
          <p:nvPr/>
        </p:nvSpPr>
        <p:spPr>
          <a:xfrm>
            <a:off x="17190720" y="1325880"/>
            <a:ext cx="1920240" cy="365760"/>
          </a:xfrm>
          <a:prstGeom prst="rect">
            <a:avLst/>
          </a:prstGeom>
          <a:noFill/>
        </p:spPr>
        <p:txBody>
          <a:bodyPr wrap="square">
            <a:spAutoFit/>
          </a:bodyPr>
          <a:lstStyle/>
          <a:p>
            <a:pPr algn="ctr"/>
            <a:r>
              <a:rPr sz="1000" b="0" i="1">
                <a:solidFill>
                  <a:srgbClr val="506E96"/>
                </a:solidFill>
                <a:latin typeface="Calibri"/>
              </a:rPr>
              <a:t>GitHub/Data</a:t>
            </a:r>
          </a:p>
        </p:txBody>
      </p:sp>
      <p:sp>
        <p:nvSpPr>
          <p:cNvPr id="15" name="Rectangle 14"/>
          <p:cNvSpPr/>
          <p:nvPr/>
        </p:nvSpPr>
        <p:spPr>
          <a:xfrm>
            <a:off x="320040" y="4370832"/>
            <a:ext cx="18800064"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4370832"/>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4370832"/>
            <a:ext cx="640080" cy="502920"/>
          </a:xfrm>
          <a:prstGeom prst="rect">
            <a:avLst/>
          </a:prstGeom>
          <a:noFill/>
        </p:spPr>
        <p:txBody>
          <a:bodyPr wrap="square">
            <a:spAutoFit/>
          </a:bodyPr>
          <a:lstStyle/>
          <a:p>
            <a:pPr algn="ctr"/>
            <a:r>
              <a:rPr sz="1800" b="1" i="0">
                <a:solidFill>
                  <a:srgbClr val="FFB300"/>
                </a:solidFill>
                <a:latin typeface="Calibri"/>
              </a:rPr>
              <a:t>00</a:t>
            </a:r>
          </a:p>
        </p:txBody>
      </p:sp>
      <p:sp>
        <p:nvSpPr>
          <p:cNvPr id="18" name="TextBox 17"/>
          <p:cNvSpPr txBox="1"/>
          <p:nvPr/>
        </p:nvSpPr>
        <p:spPr>
          <a:xfrm>
            <a:off x="1051560" y="4370832"/>
            <a:ext cx="18068544" cy="502920"/>
          </a:xfrm>
          <a:prstGeom prst="rect">
            <a:avLst/>
          </a:prstGeom>
          <a:noFill/>
        </p:spPr>
        <p:txBody>
          <a:bodyPr wrap="square">
            <a:spAutoFit/>
          </a:bodyPr>
          <a:lstStyle/>
          <a:p>
            <a:pPr algn="l"/>
            <a:r>
              <a:rPr sz="1500" b="1" i="0">
                <a:solidFill>
                  <a:srgbClr val="FFFFFF"/>
                </a:solidFill>
                <a:latin typeface="Calibri"/>
              </a:rPr>
              <a:t>TÓM TẮT / ABSTRACT</a:t>
            </a:r>
          </a:p>
        </p:txBody>
      </p:sp>
      <p:sp>
        <p:nvSpPr>
          <p:cNvPr id="19" name="Rectangle 18"/>
          <p:cNvSpPr/>
          <p:nvPr/>
        </p:nvSpPr>
        <p:spPr>
          <a:xfrm>
            <a:off x="320040" y="4901184"/>
            <a:ext cx="18800064" cy="2395728"/>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965192"/>
            <a:ext cx="18525744" cy="2240280"/>
          </a:xfrm>
          <a:prstGeom prst="rect">
            <a:avLst/>
          </a:prstGeom>
          <a:noFill/>
        </p:spPr>
        <p:txBody>
          <a:bodyPr wrap="square">
            <a:spAutoFit/>
          </a:bodyPr>
          <a:lstStyle/>
          <a:p>
            <a:pPr algn="l"/>
            <a:r>
              <a:rPr sz="1250" b="0" i="0">
                <a:solidFill>
                  <a:srgbClr val="0D0033"/>
                </a:solidFill>
                <a:latin typeface="Calibri"/>
              </a:rPr>
              <a:t>Nghiên cứu này trình bày mô hình FloodLSTM v2, kiến trúc Encoder-Decoder kết hợp Bi-LSTM hai chiều, cơ chế Cross-Attention đa đầu và lớp NWP Fusion đa nguồn, nhằm dự báo xác suất lưu lượng đến hồ chứa theo 7 ngày với 7 phân vị (P5–P95). Mô hình được huấn luyện đồng thời trên 16 hồ chứa thuộc lưu vực Vu Gia – Thu Bồn, Việt Nam, sử dụng 46 đặc trưng đầu vào bao gồm mưa tích lũy, lưu lượng lịch sử, trạng thái hồ và dữ liệu NWP. Encoder xử lý 720 giờ (30 ngày) chuỗi thời gian quá khứ, trong khi Decoder tự hồi quy dự báo 168 bước tiếp theo. Kết quả đánh giá trên tập test 2025 cho thấy NSE trung bình đạt 0,75–0,90, vượt trội so với phiên bản v1. Hệ thống hoạt động thời gian thực, cung cấp dải tin cậy P10–P90 phục vụ vận hành hồ chứa và cảnh báo lũ sớm tại Trung Trung Bộ Việt Nam.</a:t>
            </a:r>
          </a:p>
        </p:txBody>
      </p:sp>
      <p:sp>
        <p:nvSpPr>
          <p:cNvPr id="21" name="TextBox 20"/>
          <p:cNvSpPr txBox="1"/>
          <p:nvPr/>
        </p:nvSpPr>
        <p:spPr>
          <a:xfrm>
            <a:off x="457200" y="6885432"/>
            <a:ext cx="18525744" cy="411480"/>
          </a:xfrm>
          <a:prstGeom prst="rect">
            <a:avLst/>
          </a:prstGeom>
          <a:noFill/>
        </p:spPr>
        <p:txBody>
          <a:bodyPr wrap="square">
            <a:spAutoFit/>
          </a:bodyPr>
          <a:lstStyle/>
          <a:p>
            <a:pPr algn="l"/>
            <a:r>
              <a:rPr sz="1100" b="0" i="1">
                <a:solidFill>
                  <a:srgbClr val="1565C0"/>
                </a:solidFill>
                <a:latin typeface="Calibri"/>
              </a:rPr>
              <a:t>Từ khóa: LSTM · Dự báo xác suất · Hồ chứa · Lưu vực Vu Gia – Thu Bồn · Cơ chế Attention · Quantile Regression · Dự báo lũ thời gian thực</a:t>
            </a:r>
          </a:p>
        </p:txBody>
      </p:sp>
      <p:sp>
        <p:nvSpPr>
          <p:cNvPr id="22" name="Rectangle 21"/>
          <p:cNvSpPr/>
          <p:nvPr/>
        </p:nvSpPr>
        <p:spPr>
          <a:xfrm>
            <a:off x="320040" y="7461504"/>
            <a:ext cx="9262872"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7461504"/>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7461504"/>
            <a:ext cx="640080" cy="502920"/>
          </a:xfrm>
          <a:prstGeom prst="rect">
            <a:avLst/>
          </a:prstGeom>
          <a:noFill/>
        </p:spPr>
        <p:txBody>
          <a:bodyPr wrap="square">
            <a:spAutoFit/>
          </a:bodyPr>
          <a:lstStyle/>
          <a:p>
            <a:pPr algn="ctr"/>
            <a:r>
              <a:rPr sz="1800" b="1" i="0">
                <a:solidFill>
                  <a:srgbClr val="FFB300"/>
                </a:solidFill>
                <a:latin typeface="Calibri"/>
              </a:rPr>
              <a:t>01</a:t>
            </a:r>
          </a:p>
        </p:txBody>
      </p:sp>
      <p:sp>
        <p:nvSpPr>
          <p:cNvPr id="25" name="TextBox 24"/>
          <p:cNvSpPr txBox="1"/>
          <p:nvPr/>
        </p:nvSpPr>
        <p:spPr>
          <a:xfrm>
            <a:off x="1051560" y="7461504"/>
            <a:ext cx="8531352" cy="502920"/>
          </a:xfrm>
          <a:prstGeom prst="rect">
            <a:avLst/>
          </a:prstGeom>
          <a:noFill/>
        </p:spPr>
        <p:txBody>
          <a:bodyPr wrap="square">
            <a:spAutoFit/>
          </a:bodyPr>
          <a:lstStyle/>
          <a:p>
            <a:pPr algn="l"/>
            <a:r>
              <a:rPr sz="1500" b="1" i="0">
                <a:solidFill>
                  <a:srgbClr val="FFFFFF"/>
                </a:solidFill>
                <a:latin typeface="Calibri"/>
              </a:rPr>
              <a:t>GIỚI THIỆU</a:t>
            </a:r>
          </a:p>
        </p:txBody>
      </p:sp>
      <p:sp>
        <p:nvSpPr>
          <p:cNvPr id="26" name="Rectangle 25"/>
          <p:cNvSpPr/>
          <p:nvPr/>
        </p:nvSpPr>
        <p:spPr>
          <a:xfrm>
            <a:off x="320040" y="7991856"/>
            <a:ext cx="9262872" cy="4224528"/>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8010144"/>
            <a:ext cx="9262872" cy="4160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200" b="1" i="0">
                <a:solidFill>
                  <a:srgbClr val="1565C0"/>
                </a:solidFill>
                <a:latin typeface="Calibri"/>
              </a:rPr>
              <a:t>Bối cảnh:</a:t>
            </a:r>
          </a:p>
          <a:p>
            <a:pPr algn="l"/>
            <a:r>
              <a:rPr sz="1150" b="0" i="0">
                <a:solidFill>
                  <a:srgbClr val="0D0033"/>
                </a:solidFill>
                <a:latin typeface="Calibri"/>
              </a:rPr>
              <a:t>Lưu vực Vu Gia – Thu Bồn (VGTB) là hệ thống sông lớn nhất Trung Bộ Việt Nam, diện tích lưu vực &gt; 10.000 km², phục vụ nước cho Đà Nẵng và các tỉnh lân cận. Vào mùa mưa (tháng 10–12), cường độ mưa lớn trên địa hình núi dốc tạo ra lũ quét và lũ ống gây thiệt hại nghiêm trọng.</a:t>
            </a:r>
          </a:p>
          <a:p>
            <a:pPr algn="l"/>
            <a:r>
              <a:rPr sz="500" b="0" i="0">
                <a:solidFill>
                  <a:srgbClr val="0D0033"/>
                </a:solidFill>
                <a:latin typeface="Calibri"/>
              </a:rPr>
              <a:t/>
            </a:r>
          </a:p>
          <a:p>
            <a:pPr algn="l"/>
            <a:r>
              <a:rPr sz="1200" b="1" i="0">
                <a:solidFill>
                  <a:srgbClr val="1565C0"/>
                </a:solidFill>
                <a:latin typeface="Calibri"/>
              </a:rPr>
              <a:t>Vai trò hồ chứa:</a:t>
            </a:r>
          </a:p>
          <a:p>
            <a:pPr algn="l"/>
            <a:r>
              <a:rPr sz="1150" b="0" i="0">
                <a:solidFill>
                  <a:srgbClr val="0D0033"/>
                </a:solidFill>
                <a:latin typeface="Calibri"/>
              </a:rPr>
              <a:t>16 hồ chứa thủy điện trong lưu vực (tổng công suất ~1.800 MW) đóng vai trò điều tiết lũ quan trọng. Vận hành đúng các cửa xả trước khi đỉnh lũ đến có thể giảm đáng kể thiệt hại hạ du. Điều này đòi hỏi dự báo lưu lượng đến hồ chính xác với thời gian dẫn trước (lead time) ít nhất 24–168 giờ.</a:t>
            </a:r>
          </a:p>
          <a:p>
            <a:pPr algn="l"/>
            <a:r>
              <a:rPr sz="500" b="0" i="0">
                <a:solidFill>
                  <a:srgbClr val="0D0033"/>
                </a:solidFill>
                <a:latin typeface="Calibri"/>
              </a:rPr>
              <a:t/>
            </a:r>
          </a:p>
          <a:p>
            <a:pPr algn="l"/>
            <a:r>
              <a:rPr sz="1200" b="1" i="0">
                <a:solidFill>
                  <a:srgbClr val="1565C0"/>
                </a:solidFill>
                <a:latin typeface="Calibri"/>
              </a:rPr>
              <a:t>Thách thức:</a:t>
            </a:r>
          </a:p>
          <a:p>
            <a:pPr algn="l"/>
            <a:r>
              <a:rPr sz="1150" b="0" i="0">
                <a:solidFill>
                  <a:srgbClr val="0D0033"/>
                </a:solidFill>
                <a:latin typeface="Calibri"/>
              </a:rPr>
              <a:t>• Phi tuyến mạnh trong quan hệ mưa–dòng chảy ở vùng núi cao
• Thông tin NWP (dự báo số trị thời tiết) có nhiều nguồn với độ tin cậy khác nhau
• Cần ước lượng khoảng tin cậy để hỗ trợ ra quyết định
• Mô hình phải hoạt động thời gian thực với độ trễ &lt; 1 giây/hồ</a:t>
            </a:r>
          </a:p>
          <a:p>
            <a:pPr algn="l"/>
            <a:r>
              <a:rPr sz="500" b="0" i="0">
                <a:solidFill>
                  <a:srgbClr val="0D0033"/>
                </a:solidFill>
                <a:latin typeface="Calibri"/>
              </a:rPr>
              <a:t/>
            </a:r>
          </a:p>
          <a:p>
            <a:pPr algn="l"/>
            <a:r>
              <a:rPr sz="1200" b="1" i="0">
                <a:solidFill>
                  <a:srgbClr val="1565C0"/>
                </a:solidFill>
                <a:latin typeface="Calibri"/>
              </a:rPr>
              <a:t>Hướng tiếp cận:</a:t>
            </a:r>
          </a:p>
          <a:p>
            <a:pPr algn="l"/>
            <a:r>
              <a:rPr sz="1150" b="0" i="0">
                <a:solidFill>
                  <a:srgbClr val="0D0033"/>
                </a:solidFill>
                <a:latin typeface="Calibri"/>
              </a:rPr>
              <a:t>Nghiên cứu đề xuất FloodLSTM v2 — mô hình học sâu kết hợp Bi-LSTM Encoder, Autoregressive Decoder, Multi-Head Cross-Attention và NWP Fusion Layer — huấn luyện đồng thời (global) trên toàn bộ 16 hồ chứa.</a:t>
            </a:r>
          </a:p>
        </p:txBody>
      </p:sp>
      <p:sp>
        <p:nvSpPr>
          <p:cNvPr id="28" name="Rectangle 27"/>
          <p:cNvSpPr/>
          <p:nvPr/>
        </p:nvSpPr>
        <p:spPr>
          <a:xfrm>
            <a:off x="320040" y="12353544"/>
            <a:ext cx="9262872"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12353544"/>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12353544"/>
            <a:ext cx="640080" cy="502920"/>
          </a:xfrm>
          <a:prstGeom prst="rect">
            <a:avLst/>
          </a:prstGeom>
          <a:noFill/>
        </p:spPr>
        <p:txBody>
          <a:bodyPr wrap="square">
            <a:spAutoFit/>
          </a:bodyPr>
          <a:lstStyle/>
          <a:p>
            <a:pPr algn="ctr"/>
            <a:r>
              <a:rPr sz="1800" b="1" i="0">
                <a:solidFill>
                  <a:srgbClr val="FFB300"/>
                </a:solidFill>
                <a:latin typeface="Calibri"/>
              </a:rPr>
              <a:t>02</a:t>
            </a:r>
          </a:p>
        </p:txBody>
      </p:sp>
      <p:sp>
        <p:nvSpPr>
          <p:cNvPr id="31" name="TextBox 30"/>
          <p:cNvSpPr txBox="1"/>
          <p:nvPr/>
        </p:nvSpPr>
        <p:spPr>
          <a:xfrm>
            <a:off x="1051560" y="12353544"/>
            <a:ext cx="8531352" cy="502920"/>
          </a:xfrm>
          <a:prstGeom prst="rect">
            <a:avLst/>
          </a:prstGeom>
          <a:noFill/>
        </p:spPr>
        <p:txBody>
          <a:bodyPr wrap="square">
            <a:spAutoFit/>
          </a:bodyPr>
          <a:lstStyle/>
          <a:p>
            <a:pPr algn="l"/>
            <a:r>
              <a:rPr sz="1500" b="1" i="0">
                <a:solidFill>
                  <a:srgbClr val="FFFFFF"/>
                </a:solidFill>
                <a:latin typeface="Calibri"/>
              </a:rPr>
              <a:t>VÙNG NGHIÊN CỨU</a:t>
            </a:r>
          </a:p>
        </p:txBody>
      </p:sp>
      <p:sp>
        <p:nvSpPr>
          <p:cNvPr id="32" name="Rectangle 31"/>
          <p:cNvSpPr/>
          <p:nvPr/>
        </p:nvSpPr>
        <p:spPr>
          <a:xfrm>
            <a:off x="320040" y="12883896"/>
            <a:ext cx="9262872" cy="4315968"/>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1480" y="12975336"/>
            <a:ext cx="9079992" cy="2926080"/>
          </a:xfrm>
          <a:prstGeom prst="rect">
            <a:avLst/>
          </a:prstGeom>
          <a:solidFill>
            <a:srgbClr val="DCE6F0"/>
          </a:solidFill>
          <a:ln w="12700">
            <a:solidFill>
              <a:srgbClr val="648C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14118336"/>
            <a:ext cx="9079992" cy="411480"/>
          </a:xfrm>
          <a:prstGeom prst="rect">
            <a:avLst/>
          </a:prstGeom>
          <a:noFill/>
        </p:spPr>
        <p:txBody>
          <a:bodyPr wrap="square">
            <a:spAutoFit/>
          </a:bodyPr>
          <a:lstStyle/>
          <a:p>
            <a:pPr algn="ctr"/>
            <a:r>
              <a:rPr sz="1300" b="1" i="0">
                <a:solidFill>
                  <a:srgbClr val="325A8C"/>
                </a:solidFill>
                <a:latin typeface="Calibri"/>
              </a:rPr>
              <a:t>[BẢN ĐỒ LƯU VỰC VU GIA – THU BỒN]</a:t>
            </a:r>
          </a:p>
        </p:txBody>
      </p:sp>
      <p:sp>
        <p:nvSpPr>
          <p:cNvPr id="35" name="TextBox 34"/>
          <p:cNvSpPr txBox="1"/>
          <p:nvPr/>
        </p:nvSpPr>
        <p:spPr>
          <a:xfrm>
            <a:off x="411480" y="14529816"/>
            <a:ext cx="9079992" cy="365760"/>
          </a:xfrm>
          <a:prstGeom prst="rect">
            <a:avLst/>
          </a:prstGeom>
          <a:noFill/>
        </p:spPr>
        <p:txBody>
          <a:bodyPr wrap="square">
            <a:spAutoFit/>
          </a:bodyPr>
          <a:lstStyle/>
          <a:p>
            <a:pPr algn="ctr"/>
            <a:r>
              <a:rPr sz="1000" b="0" i="1">
                <a:solidFill>
                  <a:srgbClr val="506E96"/>
                </a:solidFill>
                <a:latin typeface="Calibri"/>
              </a:rPr>
              <a:t>16 hồ chứa + 37 trạm đo mưa</a:t>
            </a:r>
          </a:p>
        </p:txBody>
      </p:sp>
      <p:sp>
        <p:nvSpPr>
          <p:cNvPr id="36" name="TextBox 35"/>
          <p:cNvSpPr txBox="1"/>
          <p:nvPr/>
        </p:nvSpPr>
        <p:spPr>
          <a:xfrm>
            <a:off x="411480" y="15947136"/>
            <a:ext cx="9079992" cy="1143000"/>
          </a:xfrm>
          <a:prstGeom prst="rect">
            <a:avLst/>
          </a:prstGeom>
          <a:noFill/>
        </p:spPr>
        <p:txBody>
          <a:bodyPr wrap="square">
            <a:spAutoFit/>
          </a:bodyPr>
          <a:lstStyle/>
          <a:p>
            <a:pPr algn="l"/>
            <a:r>
              <a:rPr sz="1100" b="0" i="0">
                <a:solidFill>
                  <a:srgbClr val="0D0033"/>
                </a:solidFill>
                <a:latin typeface="Calibri"/>
              </a:rPr>
              <a:t>• Diện tích lưu vực: &gt; 10.000 km²  |  Dài sông: ~204 km
• 16 hồ chứa: A Vương, Đắk Mi 4, Sông Bung 2/4/4A/5/6, Sông Tranh 2/3/4, Za Hung, Đắk Mi 2/3, Khế Diên, Sông Con 2, Đắk Mi 4C
• Mưa trung bình năm: 2.500–4.000 mm (70% tập trung tháng 10–12)
• Dữ liệu: 2022–2025 (hourly) từ NCHMF &amp; API HydroChart</a:t>
            </a:r>
          </a:p>
        </p:txBody>
      </p:sp>
      <p:sp>
        <p:nvSpPr>
          <p:cNvPr id="37" name="Rectangle 36"/>
          <p:cNvSpPr/>
          <p:nvPr/>
        </p:nvSpPr>
        <p:spPr>
          <a:xfrm>
            <a:off x="320040" y="17337024"/>
            <a:ext cx="9262872"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0040" y="17337024"/>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 y="17337024"/>
            <a:ext cx="640080" cy="502920"/>
          </a:xfrm>
          <a:prstGeom prst="rect">
            <a:avLst/>
          </a:prstGeom>
          <a:noFill/>
        </p:spPr>
        <p:txBody>
          <a:bodyPr wrap="square">
            <a:spAutoFit/>
          </a:bodyPr>
          <a:lstStyle/>
          <a:p>
            <a:pPr algn="ctr"/>
            <a:r>
              <a:rPr sz="1800" b="1" i="0">
                <a:solidFill>
                  <a:srgbClr val="FFB300"/>
                </a:solidFill>
                <a:latin typeface="Calibri"/>
              </a:rPr>
              <a:t>03</a:t>
            </a:r>
          </a:p>
        </p:txBody>
      </p:sp>
      <p:sp>
        <p:nvSpPr>
          <p:cNvPr id="40" name="TextBox 39"/>
          <p:cNvSpPr txBox="1"/>
          <p:nvPr/>
        </p:nvSpPr>
        <p:spPr>
          <a:xfrm>
            <a:off x="1051560" y="17337024"/>
            <a:ext cx="8531352" cy="502920"/>
          </a:xfrm>
          <a:prstGeom prst="rect">
            <a:avLst/>
          </a:prstGeom>
          <a:noFill/>
        </p:spPr>
        <p:txBody>
          <a:bodyPr wrap="square">
            <a:spAutoFit/>
          </a:bodyPr>
          <a:lstStyle/>
          <a:p>
            <a:pPr algn="l"/>
            <a:r>
              <a:rPr sz="1500" b="1" i="0">
                <a:solidFill>
                  <a:srgbClr val="FFFFFF"/>
                </a:solidFill>
                <a:latin typeface="Calibri"/>
              </a:rPr>
              <a:t>KIẾN TRÚC FloodLSTM v2</a:t>
            </a:r>
          </a:p>
        </p:txBody>
      </p:sp>
      <p:sp>
        <p:nvSpPr>
          <p:cNvPr id="41" name="Rectangle 40"/>
          <p:cNvSpPr/>
          <p:nvPr/>
        </p:nvSpPr>
        <p:spPr>
          <a:xfrm>
            <a:off x="320040" y="17867376"/>
            <a:ext cx="9262872" cy="9070848"/>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11480" y="17958816"/>
            <a:ext cx="9079992" cy="5943600"/>
          </a:xfrm>
          <a:prstGeom prst="rect">
            <a:avLst/>
          </a:prstGeom>
          <a:solidFill>
            <a:srgbClr val="DCE6F0"/>
          </a:solidFill>
          <a:ln w="12700">
            <a:solidFill>
              <a:srgbClr val="648C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 y="20610576"/>
            <a:ext cx="9079992" cy="411480"/>
          </a:xfrm>
          <a:prstGeom prst="rect">
            <a:avLst/>
          </a:prstGeom>
          <a:noFill/>
        </p:spPr>
        <p:txBody>
          <a:bodyPr wrap="square">
            <a:spAutoFit/>
          </a:bodyPr>
          <a:lstStyle/>
          <a:p>
            <a:pPr algn="ctr"/>
            <a:r>
              <a:rPr sz="1300" b="1" i="0">
                <a:solidFill>
                  <a:srgbClr val="325A8C"/>
                </a:solidFill>
                <a:latin typeface="Calibri"/>
              </a:rPr>
              <a:t>[SƠ ĐỒ KIẾN TRÚC FloodLSTM v2]</a:t>
            </a:r>
          </a:p>
        </p:txBody>
      </p:sp>
      <p:sp>
        <p:nvSpPr>
          <p:cNvPr id="44" name="TextBox 43"/>
          <p:cNvSpPr txBox="1"/>
          <p:nvPr/>
        </p:nvSpPr>
        <p:spPr>
          <a:xfrm>
            <a:off x="411480" y="21022056"/>
            <a:ext cx="9079992" cy="365760"/>
          </a:xfrm>
          <a:prstGeom prst="rect">
            <a:avLst/>
          </a:prstGeom>
          <a:noFill/>
        </p:spPr>
        <p:txBody>
          <a:bodyPr wrap="square">
            <a:spAutoFit/>
          </a:bodyPr>
          <a:lstStyle/>
          <a:p>
            <a:pPr algn="ctr"/>
            <a:r>
              <a:rPr sz="1000" b="0" i="1">
                <a:solidFill>
                  <a:srgbClr val="506E96"/>
                </a:solidFill>
                <a:latin typeface="Calibri"/>
              </a:rPr>
              <a:t>Encoder → State Handoff → NWP Fusion → Decoder + Cross-Attention → Output Heads</a:t>
            </a:r>
          </a:p>
        </p:txBody>
      </p:sp>
      <p:sp>
        <p:nvSpPr>
          <p:cNvPr id="45" name="Rectangle 44"/>
          <p:cNvSpPr/>
          <p:nvPr/>
        </p:nvSpPr>
        <p:spPr>
          <a:xfrm>
            <a:off x="393192" y="23993856"/>
            <a:ext cx="9116568" cy="34015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200" b="1" i="0">
                <a:solidFill>
                  <a:srgbClr val="0D47A1"/>
                </a:solidFill>
                <a:latin typeface="Calibri"/>
              </a:rPr>
              <a:t>Các thành phần chính:</a:t>
            </a:r>
          </a:p>
          <a:p>
            <a:pPr algn="l"/>
            <a:r>
              <a:rPr sz="1100" b="0" i="0">
                <a:solidFill>
                  <a:srgbClr val="0D0033"/>
                </a:solidFill>
                <a:latin typeface="Calibri"/>
              </a:rPr>
              <a:t>Phase 1 — Hindcast Encoder: Bi-LSTM 2 lớp xử lý 720h (30 ngày) dữ liệu lịch sử → trích xuất đặc trưng chuỗi thời gian dài hạn. Trạng thái cuối được chiếu (project) khởi tạo Decoder.</a:t>
            </a:r>
          </a:p>
          <a:p>
            <a:pPr algn="l"/>
            <a:r>
              <a:rPr sz="400" b="0" i="0">
                <a:solidFill>
                  <a:srgbClr val="0D0033"/>
                </a:solidFill>
                <a:latin typeface="Calibri"/>
              </a:rPr>
              <a:t/>
            </a:r>
          </a:p>
          <a:p>
            <a:pPr algn="l"/>
            <a:r>
              <a:rPr sz="1100" b="0" i="0">
                <a:solidFill>
                  <a:srgbClr val="0D0033"/>
                </a:solidFill>
                <a:latin typeface="Calibri"/>
              </a:rPr>
              <a:t>NWP Fusion Layer: Nhận đồng thời 2 nguồn dự báo số trị thời tiết (Open-Meteo + backup GFS/ERA5). Attention-weighted fusion tự động zero-weight nguồn thiếu dữ liệu.</a:t>
            </a:r>
          </a:p>
          <a:p>
            <a:pPr algn="l"/>
            <a:r>
              <a:rPr sz="400" b="0" i="0">
                <a:solidFill>
                  <a:srgbClr val="0D0033"/>
                </a:solidFill>
                <a:latin typeface="Calibri"/>
              </a:rPr>
              <a:t/>
            </a:r>
          </a:p>
          <a:p>
            <a:pPr algn="l"/>
            <a:r>
              <a:rPr sz="1100" b="0" i="0">
                <a:solidFill>
                  <a:srgbClr val="0D0033"/>
                </a:solidFill>
                <a:latin typeface="Calibri"/>
              </a:rPr>
              <a:t>Phase 2 — Forecast Decoder: LSTM tự hồi quy 168 bước (~7 ngày). Mỗi bước nhận: reservoir embedding + NWP fused + dự báo bước trước + context từ Cross-Attention.</a:t>
            </a:r>
          </a:p>
          <a:p>
            <a:pPr algn="l"/>
            <a:r>
              <a:rPr sz="400" b="0" i="0">
                <a:solidFill>
                  <a:srgbClr val="0D0033"/>
                </a:solidFill>
                <a:latin typeface="Calibri"/>
              </a:rPr>
              <a:t/>
            </a:r>
          </a:p>
          <a:p>
            <a:pPr algn="l"/>
            <a:r>
              <a:rPr sz="1100" b="0" i="0">
                <a:solidFill>
                  <a:srgbClr val="0D0033"/>
                </a:solidFill>
                <a:latin typeface="Calibri"/>
              </a:rPr>
              <a:t>Basin Cross-Attention (4 heads): Decoder query → Encoder key/value, cho phép mô hình tập trung vào các sự kiện lịch sử quan trọng (đỉnh lũ, mưa dài ngày).</a:t>
            </a:r>
          </a:p>
          <a:p>
            <a:pPr algn="l"/>
            <a:r>
              <a:rPr sz="400" b="0" i="0">
                <a:solidFill>
                  <a:srgbClr val="0D0033"/>
                </a:solidFill>
                <a:latin typeface="Calibri"/>
              </a:rPr>
              <a:t/>
            </a:r>
          </a:p>
          <a:p>
            <a:pPr algn="l"/>
            <a:r>
              <a:rPr sz="1100" b="0" i="0">
                <a:solidFill>
                  <a:srgbClr val="0D0033"/>
                </a:solidFill>
                <a:latin typeface="Calibri"/>
              </a:rPr>
              <a:t>Output Head: 7 phân vị đồng thời (P5/P10/P25/P50/P75/P90/P95) trong không gian √Q. Horizon-aware uncertainty scale tự động mở rộng khoảng tin cậy theo thời gian dự báo.</a:t>
            </a:r>
          </a:p>
        </p:txBody>
      </p:sp>
      <p:sp>
        <p:nvSpPr>
          <p:cNvPr id="46" name="Rectangle 45"/>
          <p:cNvSpPr/>
          <p:nvPr/>
        </p:nvSpPr>
        <p:spPr>
          <a:xfrm>
            <a:off x="411480" y="27075384"/>
            <a:ext cx="3026664" cy="1874519"/>
          </a:xfrm>
          <a:prstGeom prst="rect">
            <a:avLst/>
          </a:prstGeom>
          <a:solidFill>
            <a:srgbClr val="FFFFFF"/>
          </a:solidFill>
          <a:ln w="1905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1480" y="27075384"/>
            <a:ext cx="3026664" cy="109728"/>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27239976"/>
            <a:ext cx="3026664" cy="685800"/>
          </a:xfrm>
          <a:prstGeom prst="rect">
            <a:avLst/>
          </a:prstGeom>
          <a:noFill/>
        </p:spPr>
        <p:txBody>
          <a:bodyPr wrap="square">
            <a:spAutoFit/>
          </a:bodyPr>
          <a:lstStyle/>
          <a:p>
            <a:pPr algn="ctr"/>
            <a:r>
              <a:rPr sz="3200" b="1" i="0">
                <a:solidFill>
                  <a:srgbClr val="2E7D32"/>
                </a:solidFill>
                <a:latin typeface="Calibri"/>
              </a:rPr>
              <a:t>NSE ≥ 0,90</a:t>
            </a:r>
          </a:p>
        </p:txBody>
      </p:sp>
      <p:sp>
        <p:nvSpPr>
          <p:cNvPr id="49" name="TextBox 48"/>
          <p:cNvSpPr txBox="1"/>
          <p:nvPr/>
        </p:nvSpPr>
        <p:spPr>
          <a:xfrm>
            <a:off x="411480" y="27834336"/>
            <a:ext cx="3026664" cy="320040"/>
          </a:xfrm>
          <a:prstGeom prst="rect">
            <a:avLst/>
          </a:prstGeom>
          <a:noFill/>
        </p:spPr>
        <p:txBody>
          <a:bodyPr wrap="square">
            <a:spAutoFit/>
          </a:bodyPr>
          <a:lstStyle/>
          <a:p>
            <a:pPr algn="ctr"/>
            <a:r>
              <a:rPr sz="1100" b="0" i="0">
                <a:solidFill>
                  <a:srgbClr val="42A5F5"/>
                </a:solidFill>
                <a:latin typeface="Calibri"/>
              </a:rPr>
              <a:t>(1h lead)</a:t>
            </a:r>
          </a:p>
        </p:txBody>
      </p:sp>
      <p:sp>
        <p:nvSpPr>
          <p:cNvPr id="50" name="TextBox 49"/>
          <p:cNvSpPr txBox="1"/>
          <p:nvPr/>
        </p:nvSpPr>
        <p:spPr>
          <a:xfrm>
            <a:off x="411480" y="28108656"/>
            <a:ext cx="3026664" cy="502920"/>
          </a:xfrm>
          <a:prstGeom prst="rect">
            <a:avLst/>
          </a:prstGeom>
          <a:noFill/>
        </p:spPr>
        <p:txBody>
          <a:bodyPr wrap="square">
            <a:spAutoFit/>
          </a:bodyPr>
          <a:lstStyle/>
          <a:p>
            <a:pPr algn="ctr"/>
            <a:r>
              <a:rPr sz="1000" b="1" i="0">
                <a:solidFill>
                  <a:srgbClr val="424242"/>
                </a:solidFill>
                <a:latin typeface="Calibri"/>
              </a:rPr>
              <a:t>Sông Tranh 2
(Best model)</a:t>
            </a:r>
          </a:p>
        </p:txBody>
      </p:sp>
      <p:sp>
        <p:nvSpPr>
          <p:cNvPr id="51" name="Rectangle 50"/>
          <p:cNvSpPr/>
          <p:nvPr/>
        </p:nvSpPr>
        <p:spPr>
          <a:xfrm>
            <a:off x="3438144" y="27185112"/>
            <a:ext cx="0" cy="1655063"/>
          </a:xfrm>
          <a:prstGeom prst="rect">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38144" y="27075384"/>
            <a:ext cx="3026664" cy="1874519"/>
          </a:xfrm>
          <a:prstGeom prst="rect">
            <a:avLst/>
          </a:prstGeom>
          <a:solidFill>
            <a:srgbClr val="FFFFFF"/>
          </a:solidFill>
          <a:ln w="1905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438144" y="27075384"/>
            <a:ext cx="3026664" cy="109728"/>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38144" y="27239976"/>
            <a:ext cx="3026664" cy="685800"/>
          </a:xfrm>
          <a:prstGeom prst="rect">
            <a:avLst/>
          </a:prstGeom>
          <a:noFill/>
        </p:spPr>
        <p:txBody>
          <a:bodyPr wrap="square">
            <a:spAutoFit/>
          </a:bodyPr>
          <a:lstStyle/>
          <a:p>
            <a:pPr algn="ctr"/>
            <a:r>
              <a:rPr sz="3200" b="1" i="0">
                <a:solidFill>
                  <a:srgbClr val="1565C0"/>
                </a:solidFill>
                <a:latin typeface="Calibri"/>
              </a:rPr>
              <a:t>0,75–0,90</a:t>
            </a:r>
          </a:p>
        </p:txBody>
      </p:sp>
      <p:sp>
        <p:nvSpPr>
          <p:cNvPr id="55" name="TextBox 54"/>
          <p:cNvSpPr txBox="1"/>
          <p:nvPr/>
        </p:nvSpPr>
        <p:spPr>
          <a:xfrm>
            <a:off x="3438144" y="27834336"/>
            <a:ext cx="3026664" cy="320040"/>
          </a:xfrm>
          <a:prstGeom prst="rect">
            <a:avLst/>
          </a:prstGeom>
          <a:noFill/>
        </p:spPr>
        <p:txBody>
          <a:bodyPr wrap="square">
            <a:spAutoFit/>
          </a:bodyPr>
          <a:lstStyle/>
          <a:p>
            <a:pPr algn="ctr"/>
            <a:r>
              <a:rPr sz="1100" b="0" i="0">
                <a:solidFill>
                  <a:srgbClr val="42A5F5"/>
                </a:solidFill>
                <a:latin typeface="Calibri"/>
              </a:rPr>
              <a:t>(Test 2025)</a:t>
            </a:r>
          </a:p>
        </p:txBody>
      </p:sp>
      <p:sp>
        <p:nvSpPr>
          <p:cNvPr id="56" name="TextBox 55"/>
          <p:cNvSpPr txBox="1"/>
          <p:nvPr/>
        </p:nvSpPr>
        <p:spPr>
          <a:xfrm>
            <a:off x="3438144" y="28108656"/>
            <a:ext cx="3026664" cy="502920"/>
          </a:xfrm>
          <a:prstGeom prst="rect">
            <a:avLst/>
          </a:prstGeom>
          <a:noFill/>
        </p:spPr>
        <p:txBody>
          <a:bodyPr wrap="square">
            <a:spAutoFit/>
          </a:bodyPr>
          <a:lstStyle/>
          <a:p>
            <a:pPr algn="ctr"/>
            <a:r>
              <a:rPr sz="1000" b="1" i="0">
                <a:solidFill>
                  <a:srgbClr val="424242"/>
                </a:solidFill>
                <a:latin typeface="Calibri"/>
              </a:rPr>
              <a:t>NSE trung bình
16 hồ chứa</a:t>
            </a:r>
          </a:p>
        </p:txBody>
      </p:sp>
      <p:sp>
        <p:nvSpPr>
          <p:cNvPr id="57" name="Rectangle 56"/>
          <p:cNvSpPr/>
          <p:nvPr/>
        </p:nvSpPr>
        <p:spPr>
          <a:xfrm>
            <a:off x="6464808" y="27185112"/>
            <a:ext cx="0" cy="1655063"/>
          </a:xfrm>
          <a:prstGeom prst="rect">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464808" y="27075384"/>
            <a:ext cx="3026664" cy="1874519"/>
          </a:xfrm>
          <a:prstGeom prst="rect">
            <a:avLst/>
          </a:prstGeom>
          <a:solidFill>
            <a:srgbClr val="FFFFFF"/>
          </a:solidFill>
          <a:ln w="1905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464808" y="27075384"/>
            <a:ext cx="3026664" cy="109728"/>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64808" y="27239976"/>
            <a:ext cx="3026664" cy="685800"/>
          </a:xfrm>
          <a:prstGeom prst="rect">
            <a:avLst/>
          </a:prstGeom>
          <a:noFill/>
        </p:spPr>
        <p:txBody>
          <a:bodyPr wrap="square">
            <a:spAutoFit/>
          </a:bodyPr>
          <a:lstStyle/>
          <a:p>
            <a:pPr algn="ctr"/>
            <a:r>
              <a:rPr sz="3200" b="1" i="0">
                <a:solidFill>
                  <a:srgbClr val="E65100"/>
                </a:solidFill>
                <a:latin typeface="Calibri"/>
              </a:rPr>
              <a:t>168 giờ</a:t>
            </a:r>
          </a:p>
        </p:txBody>
      </p:sp>
      <p:sp>
        <p:nvSpPr>
          <p:cNvPr id="61" name="TextBox 60"/>
          <p:cNvSpPr txBox="1"/>
          <p:nvPr/>
        </p:nvSpPr>
        <p:spPr>
          <a:xfrm>
            <a:off x="6464808" y="27834336"/>
            <a:ext cx="3026664" cy="320040"/>
          </a:xfrm>
          <a:prstGeom prst="rect">
            <a:avLst/>
          </a:prstGeom>
          <a:noFill/>
        </p:spPr>
        <p:txBody>
          <a:bodyPr wrap="square">
            <a:spAutoFit/>
          </a:bodyPr>
          <a:lstStyle/>
          <a:p>
            <a:pPr algn="ctr"/>
            <a:r>
              <a:rPr sz="1100" b="0" i="0">
                <a:solidFill>
                  <a:srgbClr val="42A5F5"/>
                </a:solidFill>
                <a:latin typeface="Calibri"/>
              </a:rPr>
              <a:t>(7 ngày tới)</a:t>
            </a:r>
          </a:p>
        </p:txBody>
      </p:sp>
      <p:sp>
        <p:nvSpPr>
          <p:cNvPr id="62" name="TextBox 61"/>
          <p:cNvSpPr txBox="1"/>
          <p:nvPr/>
        </p:nvSpPr>
        <p:spPr>
          <a:xfrm>
            <a:off x="6464808" y="28108656"/>
            <a:ext cx="3026664" cy="502920"/>
          </a:xfrm>
          <a:prstGeom prst="rect">
            <a:avLst/>
          </a:prstGeom>
          <a:noFill/>
        </p:spPr>
        <p:txBody>
          <a:bodyPr wrap="square">
            <a:spAutoFit/>
          </a:bodyPr>
          <a:lstStyle/>
          <a:p>
            <a:pPr algn="ctr"/>
            <a:r>
              <a:rPr sz="1000" b="1" i="0">
                <a:solidFill>
                  <a:srgbClr val="424242"/>
                </a:solidFill>
                <a:latin typeface="Calibri"/>
              </a:rPr>
              <a:t>Dự báo liên tục
xác suất</a:t>
            </a:r>
          </a:p>
        </p:txBody>
      </p:sp>
      <p:sp>
        <p:nvSpPr>
          <p:cNvPr id="63" name="Rectangle 62"/>
          <p:cNvSpPr/>
          <p:nvPr/>
        </p:nvSpPr>
        <p:spPr>
          <a:xfrm>
            <a:off x="320040" y="29087063"/>
            <a:ext cx="9262872"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20040" y="29087063"/>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0040" y="29087063"/>
            <a:ext cx="640080" cy="502920"/>
          </a:xfrm>
          <a:prstGeom prst="rect">
            <a:avLst/>
          </a:prstGeom>
          <a:noFill/>
        </p:spPr>
        <p:txBody>
          <a:bodyPr wrap="square">
            <a:spAutoFit/>
          </a:bodyPr>
          <a:lstStyle/>
          <a:p>
            <a:pPr algn="ctr"/>
            <a:r>
              <a:rPr sz="1800" b="1" i="0">
                <a:solidFill>
                  <a:srgbClr val="FFB300"/>
                </a:solidFill>
                <a:latin typeface="Calibri"/>
              </a:rPr>
              <a:t>04</a:t>
            </a:r>
          </a:p>
        </p:txBody>
      </p:sp>
      <p:sp>
        <p:nvSpPr>
          <p:cNvPr id="66" name="TextBox 65"/>
          <p:cNvSpPr txBox="1"/>
          <p:nvPr/>
        </p:nvSpPr>
        <p:spPr>
          <a:xfrm>
            <a:off x="1051560" y="29087063"/>
            <a:ext cx="8531352" cy="502920"/>
          </a:xfrm>
          <a:prstGeom prst="rect">
            <a:avLst/>
          </a:prstGeom>
          <a:noFill/>
        </p:spPr>
        <p:txBody>
          <a:bodyPr wrap="square">
            <a:spAutoFit/>
          </a:bodyPr>
          <a:lstStyle/>
          <a:p>
            <a:pPr algn="l"/>
            <a:r>
              <a:rPr sz="1500" b="1" i="0">
                <a:solidFill>
                  <a:srgbClr val="FFFFFF"/>
                </a:solidFill>
                <a:latin typeface="Calibri"/>
              </a:rPr>
              <a:t>DỮ LIỆU &amp; TIỀN XỬ LÝ</a:t>
            </a:r>
          </a:p>
        </p:txBody>
      </p:sp>
      <p:sp>
        <p:nvSpPr>
          <p:cNvPr id="67" name="Rectangle 66"/>
          <p:cNvSpPr/>
          <p:nvPr/>
        </p:nvSpPr>
        <p:spPr>
          <a:xfrm>
            <a:off x="320040" y="29617415"/>
            <a:ext cx="9262872" cy="6967727"/>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8" name="Table 67"/>
          <p:cNvGraphicFramePr>
            <a:graphicFrameLocks noGrp="1"/>
          </p:cNvGraphicFramePr>
          <p:nvPr/>
        </p:nvGraphicFramePr>
        <p:xfrm>
          <a:off x="411480" y="29681423"/>
          <a:ext cx="9079992" cy="3200400"/>
        </p:xfrm>
        <a:graphic>
          <a:graphicData uri="http://schemas.openxmlformats.org/drawingml/2006/table">
            <a:tbl>
              <a:tblPr firstRow="1" bandRow="1">
                <a:tableStyleId>{5C22544A-7EE6-4342-B048-85BDC9FD1C3A}</a:tableStyleId>
              </a:tblPr>
              <a:tblGrid>
                <a:gridCol w="3026664"/>
                <a:gridCol w="3026664"/>
                <a:gridCol w="3026664"/>
              </a:tblGrid>
              <a:tr h="400050">
                <a:tc>
                  <a:txBody>
                    <a:bodyPr/>
                    <a:lstStyle/>
                    <a:p>
                      <a:pPr algn="ctr"/>
                      <a:r>
                        <a:rPr sz="950" b="1">
                          <a:solidFill>
                            <a:srgbClr val="FFFFFF"/>
                          </a:solidFill>
                          <a:latin typeface="Calibri"/>
                        </a:rPr>
                        <a:t>Nhóm đặc trưng</a:t>
                      </a:r>
                    </a:p>
                  </a:txBody>
                  <a:tcPr>
                    <a:solidFill>
                      <a:srgbClr val="006994"/>
                    </a:solidFill>
                  </a:tcPr>
                </a:tc>
                <a:tc>
                  <a:txBody>
                    <a:bodyPr/>
                    <a:lstStyle/>
                    <a:p>
                      <a:pPr algn="ctr"/>
                      <a:r>
                        <a:rPr sz="950" b="1">
                          <a:solidFill>
                            <a:srgbClr val="FFFFFF"/>
                          </a:solidFill>
                          <a:latin typeface="Calibri"/>
                        </a:rPr>
                        <a:t>Mô tả</a:t>
                      </a:r>
                    </a:p>
                  </a:txBody>
                  <a:tcPr>
                    <a:solidFill>
                      <a:srgbClr val="006994"/>
                    </a:solidFill>
                  </a:tcPr>
                </a:tc>
                <a:tc>
                  <a:txBody>
                    <a:bodyPr/>
                    <a:lstStyle/>
                    <a:p>
                      <a:pPr algn="ctr"/>
                      <a:r>
                        <a:rPr sz="950" b="1">
                          <a:solidFill>
                            <a:srgbClr val="FFFFFF"/>
                          </a:solidFill>
                          <a:latin typeface="Calibri"/>
                        </a:rPr>
                        <a:t>Số đặc trưng</a:t>
                      </a:r>
                    </a:p>
                  </a:txBody>
                  <a:tcPr>
                    <a:solidFill>
                      <a:srgbClr val="006994"/>
                    </a:solidFill>
                  </a:tcPr>
                </a:tc>
              </a:tr>
              <a:tr h="400050">
                <a:tc>
                  <a:txBody>
                    <a:bodyPr/>
                    <a:lstStyle/>
                    <a:p>
                      <a:pPr algn="l"/>
                      <a:r>
                        <a:rPr sz="950">
                          <a:solidFill>
                            <a:srgbClr val="0D0033"/>
                          </a:solidFill>
                          <a:latin typeface="Calibri"/>
                        </a:rPr>
                        <a:t>Mưa (hindcast)</a:t>
                      </a:r>
                    </a:p>
                  </a:txBody>
                  <a:tcPr>
                    <a:solidFill>
                      <a:srgbClr val="FFFFFF"/>
                    </a:solidFill>
                  </a:tcPr>
                </a:tc>
                <a:tc>
                  <a:txBody>
                    <a:bodyPr/>
                    <a:lstStyle/>
                    <a:p>
                      <a:pPr algn="ctr"/>
                      <a:r>
                        <a:rPr sz="950">
                          <a:solidFill>
                            <a:srgbClr val="0D0033"/>
                          </a:solidFill>
                          <a:latin typeface="Calibri"/>
                        </a:rPr>
                        <a:t>Lag 1–24h, tích lũy 3/6/12/24h × 9 trạm → IDW</a:t>
                      </a:r>
                    </a:p>
                  </a:txBody>
                  <a:tcPr>
                    <a:solidFill>
                      <a:srgbClr val="FFFFFF"/>
                    </a:solidFill>
                  </a:tcPr>
                </a:tc>
                <a:tc>
                  <a:txBody>
                    <a:bodyPr/>
                    <a:lstStyle/>
                    <a:p>
                      <a:pPr algn="ctr"/>
                      <a:r>
                        <a:rPr sz="950">
                          <a:solidFill>
                            <a:srgbClr val="0D0033"/>
                          </a:solidFill>
                          <a:latin typeface="Calibri"/>
                        </a:rPr>
                        <a:t>18</a:t>
                      </a:r>
                    </a:p>
                  </a:txBody>
                  <a:tcPr>
                    <a:solidFill>
                      <a:srgbClr val="FFFFFF"/>
                    </a:solidFill>
                  </a:tcPr>
                </a:tc>
              </a:tr>
              <a:tr h="400050">
                <a:tc>
                  <a:txBody>
                    <a:bodyPr/>
                    <a:lstStyle/>
                    <a:p>
                      <a:pPr algn="l"/>
                      <a:r>
                        <a:rPr sz="950">
                          <a:solidFill>
                            <a:srgbClr val="0D0033"/>
                          </a:solidFill>
                          <a:latin typeface="Calibri"/>
                        </a:rPr>
                        <a:t>Lưu lượng Q</a:t>
                      </a:r>
                    </a:p>
                  </a:txBody>
                  <a:tcPr>
                    <a:solidFill>
                      <a:srgbClr val="F0F4F8"/>
                    </a:solidFill>
                  </a:tcPr>
                </a:tc>
                <a:tc>
                  <a:txBody>
                    <a:bodyPr/>
                    <a:lstStyle/>
                    <a:p>
                      <a:pPr algn="ctr"/>
                      <a:r>
                        <a:rPr sz="950">
                          <a:solidFill>
                            <a:srgbClr val="0D0033"/>
                          </a:solidFill>
                          <a:latin typeface="Calibri"/>
                        </a:rPr>
                        <a:t>Lag Q 1–6h, trung bình 12/24/48h, Q_peak 72h</a:t>
                      </a:r>
                    </a:p>
                  </a:txBody>
                  <a:tcPr>
                    <a:solidFill>
                      <a:srgbClr val="F0F4F8"/>
                    </a:solidFill>
                  </a:tcPr>
                </a:tc>
                <a:tc>
                  <a:txBody>
                    <a:bodyPr/>
                    <a:lstStyle/>
                    <a:p>
                      <a:pPr algn="ctr"/>
                      <a:r>
                        <a:rPr sz="950">
                          <a:solidFill>
                            <a:srgbClr val="0D0033"/>
                          </a:solidFill>
                          <a:latin typeface="Calibri"/>
                        </a:rPr>
                        <a:t>10</a:t>
                      </a:r>
                    </a:p>
                  </a:txBody>
                  <a:tcPr>
                    <a:solidFill>
                      <a:srgbClr val="F0F4F8"/>
                    </a:solidFill>
                  </a:tcPr>
                </a:tc>
              </a:tr>
              <a:tr h="400050">
                <a:tc>
                  <a:txBody>
                    <a:bodyPr/>
                    <a:lstStyle/>
                    <a:p>
                      <a:pPr algn="l"/>
                      <a:r>
                        <a:rPr sz="950">
                          <a:solidFill>
                            <a:srgbClr val="0D0033"/>
                          </a:solidFill>
                          <a:latin typeface="Calibri"/>
                        </a:rPr>
                        <a:t>Trạng thái hồ</a:t>
                      </a:r>
                    </a:p>
                  </a:txBody>
                  <a:tcPr>
                    <a:solidFill>
                      <a:srgbClr val="FFFFFF"/>
                    </a:solidFill>
                  </a:tcPr>
                </a:tc>
                <a:tc>
                  <a:txBody>
                    <a:bodyPr/>
                    <a:lstStyle/>
                    <a:p>
                      <a:pPr algn="ctr"/>
                      <a:r>
                        <a:rPr sz="950">
                          <a:solidFill>
                            <a:srgbClr val="0D0033"/>
                          </a:solidFill>
                          <a:latin typeface="Calibri"/>
                        </a:rPr>
                        <a:t>Mực nước Z, Q_xả (Q_out), tỷ lệ dung tích</a:t>
                      </a:r>
                    </a:p>
                  </a:txBody>
                  <a:tcPr>
                    <a:solidFill>
                      <a:srgbClr val="FFFFFF"/>
                    </a:solidFill>
                  </a:tcPr>
                </a:tc>
                <a:tc>
                  <a:txBody>
                    <a:bodyPr/>
                    <a:lstStyle/>
                    <a:p>
                      <a:pPr algn="ctr"/>
                      <a:r>
                        <a:rPr sz="950">
                          <a:solidFill>
                            <a:srgbClr val="0D0033"/>
                          </a:solidFill>
                          <a:latin typeface="Calibri"/>
                        </a:rPr>
                        <a:t>6</a:t>
                      </a:r>
                    </a:p>
                  </a:txBody>
                  <a:tcPr>
                    <a:solidFill>
                      <a:srgbClr val="FFFFFF"/>
                    </a:solidFill>
                  </a:tcPr>
                </a:tc>
              </a:tr>
              <a:tr h="400050">
                <a:tc>
                  <a:txBody>
                    <a:bodyPr/>
                    <a:lstStyle/>
                    <a:p>
                      <a:pPr algn="l"/>
                      <a:r>
                        <a:rPr sz="950">
                          <a:solidFill>
                            <a:srgbClr val="0D0033"/>
                          </a:solidFill>
                          <a:latin typeface="Calibri"/>
                        </a:rPr>
                        <a:t>NWP tương lai</a:t>
                      </a:r>
                    </a:p>
                  </a:txBody>
                  <a:tcPr>
                    <a:solidFill>
                      <a:srgbClr val="F0F4F8"/>
                    </a:solidFill>
                  </a:tcPr>
                </a:tc>
                <a:tc>
                  <a:txBody>
                    <a:bodyPr/>
                    <a:lstStyle/>
                    <a:p>
                      <a:pPr algn="ctr"/>
                      <a:r>
                        <a:rPr sz="950">
                          <a:solidFill>
                            <a:srgbClr val="0D0033"/>
                          </a:solidFill>
                          <a:latin typeface="Calibri"/>
                        </a:rPr>
                        <a:t>Mưa NWP 1/3/6/24h, nhiệt độ, gió (2 nguồn×6)</a:t>
                      </a:r>
                    </a:p>
                  </a:txBody>
                  <a:tcPr>
                    <a:solidFill>
                      <a:srgbClr val="F0F4F8"/>
                    </a:solidFill>
                  </a:tcPr>
                </a:tc>
                <a:tc>
                  <a:txBody>
                    <a:bodyPr/>
                    <a:lstStyle/>
                    <a:p>
                      <a:pPr algn="ctr"/>
                      <a:r>
                        <a:rPr sz="950">
                          <a:solidFill>
                            <a:srgbClr val="0D0033"/>
                          </a:solidFill>
                          <a:latin typeface="Calibri"/>
                        </a:rPr>
                        <a:t>12</a:t>
                      </a:r>
                    </a:p>
                  </a:txBody>
                  <a:tcPr>
                    <a:solidFill>
                      <a:srgbClr val="F0F4F8"/>
                    </a:solidFill>
                  </a:tcPr>
                </a:tc>
              </a:tr>
              <a:tr h="400050">
                <a:tc>
                  <a:txBody>
                    <a:bodyPr/>
                    <a:lstStyle/>
                    <a:p>
                      <a:pPr algn="l"/>
                      <a:r>
                        <a:rPr sz="950">
                          <a:solidFill>
                            <a:srgbClr val="0D0033"/>
                          </a:solidFill>
                          <a:latin typeface="Calibri"/>
                        </a:rPr>
                        <a:t>Thời gian</a:t>
                      </a:r>
                    </a:p>
                  </a:txBody>
                  <a:tcPr>
                    <a:solidFill>
                      <a:srgbClr val="FFFFFF"/>
                    </a:solidFill>
                  </a:tcPr>
                </a:tc>
                <a:tc>
                  <a:txBody>
                    <a:bodyPr/>
                    <a:lstStyle/>
                    <a:p>
                      <a:pPr algn="ctr"/>
                      <a:r>
                        <a:rPr sz="950">
                          <a:solidFill>
                            <a:srgbClr val="0D0033"/>
                          </a:solidFill>
                          <a:latin typeface="Calibri"/>
                        </a:rPr>
                        <a:t>Hour sin/cos, Day sin/cos, tháng, mùa lũ flag</a:t>
                      </a:r>
                    </a:p>
                  </a:txBody>
                  <a:tcPr>
                    <a:solidFill>
                      <a:srgbClr val="FFFFFF"/>
                    </a:solidFill>
                  </a:tcPr>
                </a:tc>
                <a:tc>
                  <a:txBody>
                    <a:bodyPr/>
                    <a:lstStyle/>
                    <a:p>
                      <a:pPr algn="ctr"/>
                      <a:r>
                        <a:rPr sz="950">
                          <a:solidFill>
                            <a:srgbClr val="0D0033"/>
                          </a:solidFill>
                          <a:latin typeface="Calibri"/>
                        </a:rPr>
                        <a:t>6</a:t>
                      </a:r>
                    </a:p>
                  </a:txBody>
                  <a:tcPr>
                    <a:solidFill>
                      <a:srgbClr val="FFFFFF"/>
                    </a:solidFill>
                  </a:tcPr>
                </a:tc>
              </a:tr>
              <a:tr h="400050">
                <a:tc>
                  <a:txBody>
                    <a:bodyPr/>
                    <a:lstStyle/>
                    <a:p>
                      <a:pPr algn="l"/>
                      <a:r>
                        <a:rPr sz="950">
                          <a:solidFill>
                            <a:srgbClr val="0D0033"/>
                          </a:solidFill>
                          <a:latin typeface="Calibri"/>
                        </a:rPr>
                        <a:t>Reservoir ID</a:t>
                      </a:r>
                    </a:p>
                  </a:txBody>
                  <a:tcPr>
                    <a:solidFill>
                      <a:srgbClr val="F0F4F8"/>
                    </a:solidFill>
                  </a:tcPr>
                </a:tc>
                <a:tc>
                  <a:txBody>
                    <a:bodyPr/>
                    <a:lstStyle/>
                    <a:p>
                      <a:pPr algn="ctr"/>
                      <a:r>
                        <a:rPr sz="950">
                          <a:solidFill>
                            <a:srgbClr val="0D0033"/>
                          </a:solidFill>
                          <a:latin typeface="Calibri"/>
                        </a:rPr>
                        <a:t>Embedding Layer (E=16) — đặc trưng tĩnh</a:t>
                      </a:r>
                    </a:p>
                  </a:txBody>
                  <a:tcPr>
                    <a:solidFill>
                      <a:srgbClr val="F0F4F8"/>
                    </a:solidFill>
                  </a:tcPr>
                </a:tc>
                <a:tc>
                  <a:txBody>
                    <a:bodyPr/>
                    <a:lstStyle/>
                    <a:p>
                      <a:pPr algn="ctr"/>
                      <a:r>
                        <a:rPr sz="950">
                          <a:solidFill>
                            <a:srgbClr val="0D0033"/>
                          </a:solidFill>
                          <a:latin typeface="Calibri"/>
                        </a:rPr>
                        <a:t>16</a:t>
                      </a:r>
                    </a:p>
                  </a:txBody>
                  <a:tcPr>
                    <a:solidFill>
                      <a:srgbClr val="F0F4F8"/>
                    </a:solidFill>
                  </a:tcPr>
                </a:tc>
              </a:tr>
              <a:tr h="400050">
                <a:tc>
                  <a:txBody>
                    <a:bodyPr/>
                    <a:lstStyle/>
                    <a:p>
                      <a:pPr algn="l"/>
                      <a:r>
                        <a:rPr sz="950">
                          <a:solidFill>
                            <a:srgbClr val="0D0033"/>
                          </a:solidFill>
                          <a:latin typeface="Calibri"/>
                        </a:rPr>
                        <a:t>Tổng cộng</a:t>
                      </a:r>
                    </a:p>
                  </a:txBody>
                  <a:tcPr>
                    <a:solidFill>
                      <a:srgbClr val="FFFFFF"/>
                    </a:solidFill>
                  </a:tcPr>
                </a:tc>
                <a:tc>
                  <a:txBody>
                    <a:bodyPr/>
                    <a:lstStyle/>
                    <a:p>
                      <a:pPr algn="ctr"/>
                      <a:r>
                        <a:rPr sz="950">
                          <a:solidFill>
                            <a:srgbClr val="0D0033"/>
                          </a:solidFill>
                          <a:latin typeface="Calibri"/>
                        </a:rPr>
                        <a:t/>
                      </a:r>
                    </a:p>
                  </a:txBody>
                  <a:tcPr>
                    <a:solidFill>
                      <a:srgbClr val="FFFFFF"/>
                    </a:solidFill>
                  </a:tcPr>
                </a:tc>
                <a:tc>
                  <a:txBody>
                    <a:bodyPr/>
                    <a:lstStyle/>
                    <a:p>
                      <a:pPr algn="ctr"/>
                      <a:r>
                        <a:rPr sz="950">
                          <a:solidFill>
                            <a:srgbClr val="0D0033"/>
                          </a:solidFill>
                          <a:latin typeface="Calibri"/>
                        </a:rPr>
                        <a:t>46 (hindcast) + 12 (NWP)</a:t>
                      </a:r>
                    </a:p>
                  </a:txBody>
                  <a:tcPr>
                    <a:solidFill>
                      <a:srgbClr val="FFFFFF"/>
                    </a:solidFill>
                  </a:tcPr>
                </a:tc>
              </a:tr>
            </a:tbl>
          </a:graphicData>
        </a:graphic>
      </p:graphicFrame>
      <p:sp>
        <p:nvSpPr>
          <p:cNvPr id="69" name="Rectangle 68"/>
          <p:cNvSpPr/>
          <p:nvPr/>
        </p:nvSpPr>
        <p:spPr>
          <a:xfrm>
            <a:off x="393192" y="32973263"/>
            <a:ext cx="9116568" cy="40690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200" b="1" i="0">
                <a:solidFill>
                  <a:srgbClr val="0D47A1"/>
                </a:solidFill>
                <a:latin typeface="Calibri"/>
              </a:rPr>
              <a:t>Tiền xử lý dữ liệu:</a:t>
            </a:r>
          </a:p>
          <a:p>
            <a:pPr algn="l"/>
            <a:r>
              <a:rPr sz="1100" b="0" i="0">
                <a:solidFill>
                  <a:srgbClr val="0D0033"/>
                </a:solidFill>
                <a:latin typeface="Calibri"/>
              </a:rPr>
              <a:t>• Biến đổi căn bậc hai (√Q): Nén phân phối lệch phải của lưu lượng, giảm ảnh hưởng cực trị đến loss function.</a:t>
            </a:r>
          </a:p>
          <a:p>
            <a:pPr algn="l"/>
            <a:r>
              <a:rPr sz="1100" b="0" i="0">
                <a:solidFill>
                  <a:srgbClr val="0D0033"/>
                </a:solidFill>
                <a:latin typeface="Calibri"/>
              </a:rPr>
              <a:t>• Chuẩn hóa Z-score theo từng đặc trưng (zero mean, unit variance).</a:t>
            </a:r>
          </a:p>
          <a:p>
            <a:pPr algn="l"/>
            <a:r>
              <a:rPr sz="1100" b="0" i="0">
                <a:solidFill>
                  <a:srgbClr val="0D0033"/>
                </a:solidFill>
                <a:latin typeface="Calibri"/>
              </a:rPr>
              <a:t>• Tổng hợp mưa IDW: Nội suy nghịch khoảng cách từ 37 trạm đo mưa lên 16 điểm hồ chứa, với trọng số nghịch đảo khoảng cách bình phương.</a:t>
            </a:r>
          </a:p>
          <a:p>
            <a:pPr algn="l"/>
            <a:r>
              <a:rPr sz="1100" b="0" i="0">
                <a:solidFill>
                  <a:srgbClr val="0D0033"/>
                </a:solidFill>
                <a:latin typeface="Calibri"/>
              </a:rPr>
              <a:t>• Oversampling lũ: Top 5% mẫu lũ lớn × 2 lần, Top 1% × 3 lần — giảm bias đối với lũ hiếm gặp.</a:t>
            </a:r>
          </a:p>
          <a:p>
            <a:pPr algn="l"/>
            <a:r>
              <a:rPr sz="500" b="0" i="0">
                <a:solidFill>
                  <a:srgbClr val="0D0033"/>
                </a:solidFill>
                <a:latin typeface="Calibri"/>
              </a:rPr>
              <a:t/>
            </a:r>
          </a:p>
          <a:p>
            <a:pPr algn="l"/>
            <a:r>
              <a:rPr sz="1200" b="1" i="0">
                <a:solidFill>
                  <a:srgbClr val="0D47A1"/>
                </a:solidFill>
                <a:latin typeface="Calibri"/>
              </a:rPr>
              <a:t>Phân chia tập dữ liệu:</a:t>
            </a:r>
          </a:p>
          <a:p>
            <a:pPr algn="l"/>
            <a:r>
              <a:rPr sz="1100" b="0" i="0">
                <a:solidFill>
                  <a:srgbClr val="0D0033"/>
                </a:solidFill>
                <a:latin typeface="Calibri"/>
              </a:rPr>
              <a:t>• Train: 01/2022 – 08/2024  (trước mùa lũ 2024)
• Validation: 09/2024 – 01/2025  (mùa lũ 2024, theo dõi overfitting)
• Test (Holdout): 09/2025 – 12/2025  (mùa lũ 2025, chưa thấy trong training)</a:t>
            </a:r>
          </a:p>
        </p:txBody>
      </p:sp>
      <p:sp>
        <p:nvSpPr>
          <p:cNvPr id="70" name="Rectangle 69"/>
          <p:cNvSpPr/>
          <p:nvPr/>
        </p:nvSpPr>
        <p:spPr>
          <a:xfrm>
            <a:off x="9857232" y="7461504"/>
            <a:ext cx="9262872"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857232" y="7461504"/>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857232" y="7461504"/>
            <a:ext cx="640080" cy="502920"/>
          </a:xfrm>
          <a:prstGeom prst="rect">
            <a:avLst/>
          </a:prstGeom>
          <a:noFill/>
        </p:spPr>
        <p:txBody>
          <a:bodyPr wrap="square">
            <a:spAutoFit/>
          </a:bodyPr>
          <a:lstStyle/>
          <a:p>
            <a:pPr algn="ctr"/>
            <a:r>
              <a:rPr sz="1800" b="1" i="0">
                <a:solidFill>
                  <a:srgbClr val="FFB300"/>
                </a:solidFill>
                <a:latin typeface="Calibri"/>
              </a:rPr>
              <a:t>05</a:t>
            </a:r>
          </a:p>
        </p:txBody>
      </p:sp>
      <p:sp>
        <p:nvSpPr>
          <p:cNvPr id="73" name="TextBox 72"/>
          <p:cNvSpPr txBox="1"/>
          <p:nvPr/>
        </p:nvSpPr>
        <p:spPr>
          <a:xfrm>
            <a:off x="10588752" y="7461504"/>
            <a:ext cx="8531352" cy="502920"/>
          </a:xfrm>
          <a:prstGeom prst="rect">
            <a:avLst/>
          </a:prstGeom>
          <a:noFill/>
        </p:spPr>
        <p:txBody>
          <a:bodyPr wrap="square">
            <a:spAutoFit/>
          </a:bodyPr>
          <a:lstStyle/>
          <a:p>
            <a:pPr algn="l"/>
            <a:r>
              <a:rPr sz="1500" b="1" i="0">
                <a:solidFill>
                  <a:srgbClr val="FFFFFF"/>
                </a:solidFill>
                <a:latin typeface="Calibri"/>
              </a:rPr>
              <a:t>PHƯƠNG PHÁP HUẤN LUYỆN</a:t>
            </a:r>
          </a:p>
        </p:txBody>
      </p:sp>
      <p:sp>
        <p:nvSpPr>
          <p:cNvPr id="74" name="Rectangle 73"/>
          <p:cNvSpPr/>
          <p:nvPr/>
        </p:nvSpPr>
        <p:spPr>
          <a:xfrm>
            <a:off x="9857232" y="7991856"/>
            <a:ext cx="9262872" cy="6327648"/>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5" name="Table 74"/>
          <p:cNvGraphicFramePr>
            <a:graphicFrameLocks noGrp="1"/>
          </p:cNvGraphicFramePr>
          <p:nvPr/>
        </p:nvGraphicFramePr>
        <p:xfrm>
          <a:off x="9948672" y="8055864"/>
          <a:ext cx="9079992" cy="4114800"/>
        </p:xfrm>
        <a:graphic>
          <a:graphicData uri="http://schemas.openxmlformats.org/drawingml/2006/table">
            <a:tbl>
              <a:tblPr firstRow="1" bandRow="1">
                <a:tableStyleId>{5C22544A-7EE6-4342-B048-85BDC9FD1C3A}</a:tableStyleId>
              </a:tblPr>
              <a:tblGrid>
                <a:gridCol w="4539996"/>
                <a:gridCol w="4539996"/>
              </a:tblGrid>
              <a:tr h="293914">
                <a:tc>
                  <a:txBody>
                    <a:bodyPr/>
                    <a:lstStyle/>
                    <a:p>
                      <a:pPr algn="ctr"/>
                      <a:r>
                        <a:rPr sz="950" b="1">
                          <a:solidFill>
                            <a:srgbClr val="FFFFFF"/>
                          </a:solidFill>
                          <a:latin typeface="Calibri"/>
                        </a:rPr>
                        <a:t>Tham số</a:t>
                      </a:r>
                    </a:p>
                  </a:txBody>
                  <a:tcPr>
                    <a:solidFill>
                      <a:srgbClr val="0D47A1"/>
                    </a:solidFill>
                  </a:tcPr>
                </a:tc>
                <a:tc>
                  <a:txBody>
                    <a:bodyPr/>
                    <a:lstStyle/>
                    <a:p>
                      <a:pPr algn="ctr"/>
                      <a:r>
                        <a:rPr sz="950" b="1">
                          <a:solidFill>
                            <a:srgbClr val="FFFFFF"/>
                          </a:solidFill>
                          <a:latin typeface="Calibri"/>
                        </a:rPr>
                        <a:t>Giá trị</a:t>
                      </a:r>
                    </a:p>
                  </a:txBody>
                  <a:tcPr>
                    <a:solidFill>
                      <a:srgbClr val="0D47A1"/>
                    </a:solidFill>
                  </a:tcPr>
                </a:tc>
              </a:tr>
              <a:tr h="293914">
                <a:tc>
                  <a:txBody>
                    <a:bodyPr/>
                    <a:lstStyle/>
                    <a:p>
                      <a:pPr algn="l"/>
                      <a:r>
                        <a:rPr sz="950">
                          <a:solidFill>
                            <a:srgbClr val="0D0033"/>
                          </a:solidFill>
                          <a:latin typeface="Calibri"/>
                        </a:rPr>
                        <a:t>Kiến trúc</a:t>
                      </a:r>
                    </a:p>
                  </a:txBody>
                  <a:tcPr>
                    <a:solidFill>
                      <a:srgbClr val="FFFFFF"/>
                    </a:solidFill>
                  </a:tcPr>
                </a:tc>
                <a:tc>
                  <a:txBody>
                    <a:bodyPr/>
                    <a:lstStyle/>
                    <a:p>
                      <a:pPr algn="ctr"/>
                      <a:r>
                        <a:rPr sz="950">
                          <a:solidFill>
                            <a:srgbClr val="0D0033"/>
                          </a:solidFill>
                          <a:latin typeface="Calibri"/>
                        </a:rPr>
                        <a:t>Bi-LSTM 2 lớp (Encoder) + LSTM 2 lớp (Decoder)</a:t>
                      </a:r>
                    </a:p>
                  </a:txBody>
                  <a:tcPr>
                    <a:solidFill>
                      <a:srgbClr val="FFFFFF"/>
                    </a:solidFill>
                  </a:tcPr>
                </a:tc>
              </a:tr>
              <a:tr h="293914">
                <a:tc>
                  <a:txBody>
                    <a:bodyPr/>
                    <a:lstStyle/>
                    <a:p>
                      <a:pPr algn="l"/>
                      <a:r>
                        <a:rPr sz="950">
                          <a:solidFill>
                            <a:srgbClr val="0D0033"/>
                          </a:solidFill>
                          <a:latin typeface="Calibri"/>
                        </a:rPr>
                        <a:t>Hidden Size</a:t>
                      </a:r>
                    </a:p>
                  </a:txBody>
                  <a:tcPr>
                    <a:solidFill>
                      <a:srgbClr val="F0F4F8"/>
                    </a:solidFill>
                  </a:tcPr>
                </a:tc>
                <a:tc>
                  <a:txBody>
                    <a:bodyPr/>
                    <a:lstStyle/>
                    <a:p>
                      <a:pPr algn="ctr"/>
                      <a:r>
                        <a:rPr sz="950">
                          <a:solidFill>
                            <a:srgbClr val="0D0033"/>
                          </a:solidFill>
                          <a:latin typeface="Calibri"/>
                        </a:rPr>
                        <a:t>H = 256 units</a:t>
                      </a:r>
                    </a:p>
                  </a:txBody>
                  <a:tcPr>
                    <a:solidFill>
                      <a:srgbClr val="F0F4F8"/>
                    </a:solidFill>
                  </a:tcPr>
                </a:tc>
              </a:tr>
              <a:tr h="293914">
                <a:tc>
                  <a:txBody>
                    <a:bodyPr/>
                    <a:lstStyle/>
                    <a:p>
                      <a:pPr algn="l"/>
                      <a:r>
                        <a:rPr sz="950">
                          <a:solidFill>
                            <a:srgbClr val="0D0033"/>
                          </a:solidFill>
                          <a:latin typeface="Calibri"/>
                        </a:rPr>
                        <a:t>Reservoir Embedding</a:t>
                      </a:r>
                    </a:p>
                  </a:txBody>
                  <a:tcPr>
                    <a:solidFill>
                      <a:srgbClr val="FFFFFF"/>
                    </a:solidFill>
                  </a:tcPr>
                </a:tc>
                <a:tc>
                  <a:txBody>
                    <a:bodyPr/>
                    <a:lstStyle/>
                    <a:p>
                      <a:pPr algn="ctr"/>
                      <a:r>
                        <a:rPr sz="950">
                          <a:solidFill>
                            <a:srgbClr val="0D0033"/>
                          </a:solidFill>
                          <a:latin typeface="Calibri"/>
                        </a:rPr>
                        <a:t>E = 16 (Embedding Layer cho 20 hồ)</a:t>
                      </a:r>
                    </a:p>
                  </a:txBody>
                  <a:tcPr>
                    <a:solidFill>
                      <a:srgbClr val="FFFFFF"/>
                    </a:solidFill>
                  </a:tcPr>
                </a:tc>
              </a:tr>
              <a:tr h="293914">
                <a:tc>
                  <a:txBody>
                    <a:bodyPr/>
                    <a:lstStyle/>
                    <a:p>
                      <a:pPr algn="l"/>
                      <a:r>
                        <a:rPr sz="950">
                          <a:solidFill>
                            <a:srgbClr val="0D0033"/>
                          </a:solidFill>
                          <a:latin typeface="Calibri"/>
                        </a:rPr>
                        <a:t>NWP Embed Dim</a:t>
                      </a:r>
                    </a:p>
                  </a:txBody>
                  <a:tcPr>
                    <a:solidFill>
                      <a:srgbClr val="F0F4F8"/>
                    </a:solidFill>
                  </a:tcPr>
                </a:tc>
                <a:tc>
                  <a:txBody>
                    <a:bodyPr/>
                    <a:lstStyle/>
                    <a:p>
                      <a:pPr algn="ctr"/>
                      <a:r>
                        <a:rPr sz="950">
                          <a:solidFill>
                            <a:srgbClr val="0D0033"/>
                          </a:solidFill>
                          <a:latin typeface="Calibri"/>
                        </a:rPr>
                        <a:t>64 (output NWP Fusion Layer)</a:t>
                      </a:r>
                    </a:p>
                  </a:txBody>
                  <a:tcPr>
                    <a:solidFill>
                      <a:srgbClr val="F0F4F8"/>
                    </a:solidFill>
                  </a:tcPr>
                </a:tc>
              </a:tr>
              <a:tr h="293914">
                <a:tc>
                  <a:txBody>
                    <a:bodyPr/>
                    <a:lstStyle/>
                    <a:p>
                      <a:pPr algn="l"/>
                      <a:r>
                        <a:rPr sz="950">
                          <a:solidFill>
                            <a:srgbClr val="0D0033"/>
                          </a:solidFill>
                          <a:latin typeface="Calibri"/>
                        </a:rPr>
                        <a:t>Hindcast Length</a:t>
                      </a:r>
                    </a:p>
                  </a:txBody>
                  <a:tcPr>
                    <a:solidFill>
                      <a:srgbClr val="FFFFFF"/>
                    </a:solidFill>
                  </a:tcPr>
                </a:tc>
                <a:tc>
                  <a:txBody>
                    <a:bodyPr/>
                    <a:lstStyle/>
                    <a:p>
                      <a:pPr algn="ctr"/>
                      <a:r>
                        <a:rPr sz="950">
                          <a:solidFill>
                            <a:srgbClr val="0D0033"/>
                          </a:solidFill>
                          <a:latin typeface="Calibri"/>
                        </a:rPr>
                        <a:t>720 timesteps = 30 ngày</a:t>
                      </a:r>
                    </a:p>
                  </a:txBody>
                  <a:tcPr>
                    <a:solidFill>
                      <a:srgbClr val="FFFFFF"/>
                    </a:solidFill>
                  </a:tcPr>
                </a:tc>
              </a:tr>
              <a:tr h="293914">
                <a:tc>
                  <a:txBody>
                    <a:bodyPr/>
                    <a:lstStyle/>
                    <a:p>
                      <a:pPr algn="l"/>
                      <a:r>
                        <a:rPr sz="950">
                          <a:solidFill>
                            <a:srgbClr val="0D0033"/>
                          </a:solidFill>
                          <a:latin typeface="Calibri"/>
                        </a:rPr>
                        <a:t>Forecast Horizon</a:t>
                      </a:r>
                    </a:p>
                  </a:txBody>
                  <a:tcPr>
                    <a:solidFill>
                      <a:srgbClr val="F0F4F8"/>
                    </a:solidFill>
                  </a:tcPr>
                </a:tc>
                <a:tc>
                  <a:txBody>
                    <a:bodyPr/>
                    <a:lstStyle/>
                    <a:p>
                      <a:pPr algn="ctr"/>
                      <a:r>
                        <a:rPr sz="950">
                          <a:solidFill>
                            <a:srgbClr val="0D0033"/>
                          </a:solidFill>
                          <a:latin typeface="Calibri"/>
                        </a:rPr>
                        <a:t>168 timesteps = 7 ngày</a:t>
                      </a:r>
                    </a:p>
                  </a:txBody>
                  <a:tcPr>
                    <a:solidFill>
                      <a:srgbClr val="F0F4F8"/>
                    </a:solidFill>
                  </a:tcPr>
                </a:tc>
              </a:tr>
              <a:tr h="293914">
                <a:tc>
                  <a:txBody>
                    <a:bodyPr/>
                    <a:lstStyle/>
                    <a:p>
                      <a:pPr algn="l"/>
                      <a:r>
                        <a:rPr sz="950">
                          <a:solidFill>
                            <a:srgbClr val="0D0033"/>
                          </a:solidFill>
                          <a:latin typeface="Calibri"/>
                        </a:rPr>
                        <a:t>Số phân vị</a:t>
                      </a:r>
                    </a:p>
                  </a:txBody>
                  <a:tcPr>
                    <a:solidFill>
                      <a:srgbClr val="FFFFFF"/>
                    </a:solidFill>
                  </a:tcPr>
                </a:tc>
                <a:tc>
                  <a:txBody>
                    <a:bodyPr/>
                    <a:lstStyle/>
                    <a:p>
                      <a:pPr algn="ctr"/>
                      <a:r>
                        <a:rPr sz="950">
                          <a:solidFill>
                            <a:srgbClr val="0D0033"/>
                          </a:solidFill>
                          <a:latin typeface="Calibri"/>
                        </a:rPr>
                        <a:t>7 (P5/P10/P25/P50/P75/P90/P95)</a:t>
                      </a:r>
                    </a:p>
                  </a:txBody>
                  <a:tcPr>
                    <a:solidFill>
                      <a:srgbClr val="FFFFFF"/>
                    </a:solidFill>
                  </a:tcPr>
                </a:tc>
              </a:tr>
              <a:tr h="293914">
                <a:tc>
                  <a:txBody>
                    <a:bodyPr/>
                    <a:lstStyle/>
                    <a:p>
                      <a:pPr algn="l"/>
                      <a:r>
                        <a:rPr sz="950">
                          <a:solidFill>
                            <a:srgbClr val="0D0033"/>
                          </a:solidFill>
                          <a:latin typeface="Calibri"/>
                        </a:rPr>
                        <a:t>Optimizer</a:t>
                      </a:r>
                    </a:p>
                  </a:txBody>
                  <a:tcPr>
                    <a:solidFill>
                      <a:srgbClr val="F0F4F8"/>
                    </a:solidFill>
                  </a:tcPr>
                </a:tc>
                <a:tc>
                  <a:txBody>
                    <a:bodyPr/>
                    <a:lstStyle/>
                    <a:p>
                      <a:pPr algn="ctr"/>
                      <a:r>
                        <a:rPr sz="950">
                          <a:solidFill>
                            <a:srgbClr val="0D0033"/>
                          </a:solidFill>
                          <a:latin typeface="Calibri"/>
                        </a:rPr>
                        <a:t>AdamW  (lr=1e-4, weight_decay=1e-3)</a:t>
                      </a:r>
                    </a:p>
                  </a:txBody>
                  <a:tcPr>
                    <a:solidFill>
                      <a:srgbClr val="F0F4F8"/>
                    </a:solidFill>
                  </a:tcPr>
                </a:tc>
              </a:tr>
              <a:tr h="293914">
                <a:tc>
                  <a:txBody>
                    <a:bodyPr/>
                    <a:lstStyle/>
                    <a:p>
                      <a:pPr algn="l"/>
                      <a:r>
                        <a:rPr sz="950">
                          <a:solidFill>
                            <a:srgbClr val="0D0033"/>
                          </a:solidFill>
                          <a:latin typeface="Calibri"/>
                        </a:rPr>
                        <a:t>LR Scheduler</a:t>
                      </a:r>
                    </a:p>
                  </a:txBody>
                  <a:tcPr>
                    <a:solidFill>
                      <a:srgbClr val="FFFFFF"/>
                    </a:solidFill>
                  </a:tcPr>
                </a:tc>
                <a:tc>
                  <a:txBody>
                    <a:bodyPr/>
                    <a:lstStyle/>
                    <a:p>
                      <a:pPr algn="ctr"/>
                      <a:r>
                        <a:rPr sz="950">
                          <a:solidFill>
                            <a:srgbClr val="0D0033"/>
                          </a:solidFill>
                          <a:latin typeface="Calibri"/>
                        </a:rPr>
                        <a:t>Cosine Annealing + Warmup 10 epochs</a:t>
                      </a:r>
                    </a:p>
                  </a:txBody>
                  <a:tcPr>
                    <a:solidFill>
                      <a:srgbClr val="FFFFFF"/>
                    </a:solidFill>
                  </a:tcPr>
                </a:tc>
              </a:tr>
              <a:tr h="293914">
                <a:tc>
                  <a:txBody>
                    <a:bodyPr/>
                    <a:lstStyle/>
                    <a:p>
                      <a:pPr algn="l"/>
                      <a:r>
                        <a:rPr sz="950">
                          <a:solidFill>
                            <a:srgbClr val="0D0033"/>
                          </a:solidFill>
                          <a:latin typeface="Calibri"/>
                        </a:rPr>
                        <a:t>Batch Size</a:t>
                      </a:r>
                    </a:p>
                  </a:txBody>
                  <a:tcPr>
                    <a:solidFill>
                      <a:srgbClr val="F0F4F8"/>
                    </a:solidFill>
                  </a:tcPr>
                </a:tc>
                <a:tc>
                  <a:txBody>
                    <a:bodyPr/>
                    <a:lstStyle/>
                    <a:p>
                      <a:pPr algn="ctr"/>
                      <a:r>
                        <a:rPr sz="950">
                          <a:solidFill>
                            <a:srgbClr val="0D0033"/>
                          </a:solidFill>
                          <a:latin typeface="Calibri"/>
                        </a:rPr>
                        <a:t>128</a:t>
                      </a:r>
                    </a:p>
                  </a:txBody>
                  <a:tcPr>
                    <a:solidFill>
                      <a:srgbClr val="F0F4F8"/>
                    </a:solidFill>
                  </a:tcPr>
                </a:tc>
              </a:tr>
              <a:tr h="293914">
                <a:tc>
                  <a:txBody>
                    <a:bodyPr/>
                    <a:lstStyle/>
                    <a:p>
                      <a:pPr algn="l"/>
                      <a:r>
                        <a:rPr sz="950">
                          <a:solidFill>
                            <a:srgbClr val="0D0033"/>
                          </a:solidFill>
                          <a:latin typeface="Calibri"/>
                        </a:rPr>
                        <a:t>Epochs</a:t>
                      </a:r>
                    </a:p>
                  </a:txBody>
                  <a:tcPr>
                    <a:solidFill>
                      <a:srgbClr val="FFFFFF"/>
                    </a:solidFill>
                  </a:tcPr>
                </a:tc>
                <a:tc>
                  <a:txBody>
                    <a:bodyPr/>
                    <a:lstStyle/>
                    <a:p>
                      <a:pPr algn="ctr"/>
                      <a:r>
                        <a:rPr sz="950">
                          <a:solidFill>
                            <a:srgbClr val="0D0033"/>
                          </a:solidFill>
                          <a:latin typeface="Calibri"/>
                        </a:rPr>
                        <a:t>80 (Early stopping patience=20)</a:t>
                      </a:r>
                    </a:p>
                  </a:txBody>
                  <a:tcPr>
                    <a:solidFill>
                      <a:srgbClr val="FFFFFF"/>
                    </a:solidFill>
                  </a:tcPr>
                </a:tc>
              </a:tr>
              <a:tr h="293914">
                <a:tc>
                  <a:txBody>
                    <a:bodyPr/>
                    <a:lstStyle/>
                    <a:p>
                      <a:pPr algn="l"/>
                      <a:r>
                        <a:rPr sz="950">
                          <a:solidFill>
                            <a:srgbClr val="0D0033"/>
                          </a:solidFill>
                          <a:latin typeface="Calibri"/>
                        </a:rPr>
                        <a:t>Gradient Clip</a:t>
                      </a:r>
                    </a:p>
                  </a:txBody>
                  <a:tcPr>
                    <a:solidFill>
                      <a:srgbClr val="F0F4F8"/>
                    </a:solidFill>
                  </a:tcPr>
                </a:tc>
                <a:tc>
                  <a:txBody>
                    <a:bodyPr/>
                    <a:lstStyle/>
                    <a:p>
                      <a:pPr algn="ctr"/>
                      <a:r>
                        <a:rPr sz="950">
                          <a:solidFill>
                            <a:srgbClr val="0D0033"/>
                          </a:solidFill>
                          <a:latin typeface="Calibri"/>
                        </a:rPr>
                        <a:t>Max norm = 1.0</a:t>
                      </a:r>
                    </a:p>
                  </a:txBody>
                  <a:tcPr>
                    <a:solidFill>
                      <a:srgbClr val="F0F4F8"/>
                    </a:solidFill>
                  </a:tcPr>
                </a:tc>
              </a:tr>
              <a:tr h="293918">
                <a:tc>
                  <a:txBody>
                    <a:bodyPr/>
                    <a:lstStyle/>
                    <a:p>
                      <a:pPr algn="l"/>
                      <a:r>
                        <a:rPr sz="950">
                          <a:solidFill>
                            <a:srgbClr val="0D0033"/>
                          </a:solidFill>
                          <a:latin typeface="Calibri"/>
                        </a:rPr>
                        <a:t>Mixed Precision</a:t>
                      </a:r>
                    </a:p>
                  </a:txBody>
                  <a:tcPr>
                    <a:solidFill>
                      <a:srgbClr val="FFFFFF"/>
                    </a:solidFill>
                  </a:tcPr>
                </a:tc>
                <a:tc>
                  <a:txBody>
                    <a:bodyPr/>
                    <a:lstStyle/>
                    <a:p>
                      <a:pPr algn="ctr"/>
                      <a:r>
                        <a:rPr sz="950">
                          <a:solidFill>
                            <a:srgbClr val="0D0033"/>
                          </a:solidFill>
                          <a:latin typeface="Calibri"/>
                        </a:rPr>
                        <a:t>fp16 AMP (khi có GPU CUDA)</a:t>
                      </a:r>
                    </a:p>
                  </a:txBody>
                  <a:tcPr>
                    <a:solidFill>
                      <a:srgbClr val="FFFFFF"/>
                    </a:solidFill>
                  </a:tcPr>
                </a:tc>
              </a:tr>
            </a:tbl>
          </a:graphicData>
        </a:graphic>
      </p:graphicFrame>
      <p:sp>
        <p:nvSpPr>
          <p:cNvPr id="76" name="Rectangle 75"/>
          <p:cNvSpPr/>
          <p:nvPr/>
        </p:nvSpPr>
        <p:spPr>
          <a:xfrm>
            <a:off x="9930384" y="12262104"/>
            <a:ext cx="9116568" cy="2514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200" b="1" i="0">
                <a:solidFill>
                  <a:srgbClr val="0D47A1"/>
                </a:solidFill>
                <a:latin typeface="Calibri"/>
              </a:rPr>
              <a:t>Teacher Forcing Annealing:</a:t>
            </a:r>
          </a:p>
          <a:p>
            <a:pPr algn="l"/>
            <a:r>
              <a:rPr sz="1100" b="0" i="0">
                <a:solidFill>
                  <a:srgbClr val="0D0033"/>
                </a:solidFill>
                <a:latin typeface="Calibri"/>
              </a:rPr>
              <a:t>Đầu training (epoch 0): TF=0,8 — 80% khả năng dùng Q thực làm decoder input → ổn định gradient sớm. Cuối training (epoch 79): TF=0,0 — tự dự báo như inference, tránh lỗi tích lũy (compounding error).</a:t>
            </a:r>
          </a:p>
          <a:p>
            <a:pPr algn="l"/>
            <a:r>
              <a:rPr sz="500" b="0" i="0">
                <a:solidFill>
                  <a:srgbClr val="0D0033"/>
                </a:solidFill>
                <a:latin typeface="Calibri"/>
              </a:rPr>
              <a:t/>
            </a:r>
          </a:p>
          <a:p>
            <a:pPr algn="l"/>
            <a:r>
              <a:rPr sz="1200" b="1" i="0">
                <a:solidFill>
                  <a:srgbClr val="0D47A1"/>
                </a:solidFill>
                <a:latin typeface="Calibri"/>
              </a:rPr>
              <a:t>Hàm mất mát (Quantile Loss v2):</a:t>
            </a:r>
          </a:p>
          <a:p>
            <a:pPr algn="l"/>
            <a:r>
              <a:rPr sz="1100" b="0" i="0">
                <a:solidFill>
                  <a:srgbClr val="0D0033"/>
                </a:solidFill>
                <a:latin typeface="Calibri"/>
              </a:rPr>
              <a:t>L = Σq∈Q  max[ q·(ŷ−y), (q−1)·(ŷ−y) ]  trên không gian √Q
Đảm bảo monotonic crossing: sort(P5 ≤ P10 ≤ … ≤ P95) sau output.</a:t>
            </a:r>
          </a:p>
        </p:txBody>
      </p:sp>
      <p:sp>
        <p:nvSpPr>
          <p:cNvPr id="77" name="Rectangle 76"/>
          <p:cNvSpPr/>
          <p:nvPr/>
        </p:nvSpPr>
        <p:spPr>
          <a:xfrm>
            <a:off x="9857232" y="14456664"/>
            <a:ext cx="9262872"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857232" y="14456664"/>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57232" y="14456664"/>
            <a:ext cx="640080" cy="502920"/>
          </a:xfrm>
          <a:prstGeom prst="rect">
            <a:avLst/>
          </a:prstGeom>
          <a:noFill/>
        </p:spPr>
        <p:txBody>
          <a:bodyPr wrap="square">
            <a:spAutoFit/>
          </a:bodyPr>
          <a:lstStyle/>
          <a:p>
            <a:pPr algn="ctr"/>
            <a:r>
              <a:rPr sz="1800" b="1" i="0">
                <a:solidFill>
                  <a:srgbClr val="FFB300"/>
                </a:solidFill>
                <a:latin typeface="Calibri"/>
              </a:rPr>
              <a:t>06</a:t>
            </a:r>
          </a:p>
        </p:txBody>
      </p:sp>
      <p:sp>
        <p:nvSpPr>
          <p:cNvPr id="80" name="TextBox 79"/>
          <p:cNvSpPr txBox="1"/>
          <p:nvPr/>
        </p:nvSpPr>
        <p:spPr>
          <a:xfrm>
            <a:off x="10588752" y="14456664"/>
            <a:ext cx="8531352" cy="502920"/>
          </a:xfrm>
          <a:prstGeom prst="rect">
            <a:avLst/>
          </a:prstGeom>
          <a:noFill/>
        </p:spPr>
        <p:txBody>
          <a:bodyPr wrap="square">
            <a:spAutoFit/>
          </a:bodyPr>
          <a:lstStyle/>
          <a:p>
            <a:pPr algn="l"/>
            <a:r>
              <a:rPr sz="1500" b="1" i="0">
                <a:solidFill>
                  <a:srgbClr val="FFFFFF"/>
                </a:solidFill>
                <a:latin typeface="Calibri"/>
              </a:rPr>
              <a:t>KẾT QUẢ ĐÁNH GIÁ</a:t>
            </a:r>
          </a:p>
        </p:txBody>
      </p:sp>
      <p:sp>
        <p:nvSpPr>
          <p:cNvPr id="81" name="Rectangle 80"/>
          <p:cNvSpPr/>
          <p:nvPr/>
        </p:nvSpPr>
        <p:spPr>
          <a:xfrm>
            <a:off x="9857232" y="14987016"/>
            <a:ext cx="9262872" cy="11814048"/>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2" name="Table 81"/>
          <p:cNvGraphicFramePr>
            <a:graphicFrameLocks noGrp="1"/>
          </p:cNvGraphicFramePr>
          <p:nvPr/>
        </p:nvGraphicFramePr>
        <p:xfrm>
          <a:off x="9948672" y="15051024"/>
          <a:ext cx="9079992" cy="5303520"/>
        </p:xfrm>
        <a:graphic>
          <a:graphicData uri="http://schemas.openxmlformats.org/drawingml/2006/table">
            <a:tbl>
              <a:tblPr firstRow="1" bandRow="1">
                <a:tableStyleId>{5C22544A-7EE6-4342-B048-85BDC9FD1C3A}</a:tableStyleId>
              </a:tblPr>
              <a:tblGrid>
                <a:gridCol w="2269998"/>
                <a:gridCol w="2269998"/>
                <a:gridCol w="2269998"/>
                <a:gridCol w="2269998"/>
              </a:tblGrid>
              <a:tr h="294640">
                <a:tc>
                  <a:txBody>
                    <a:bodyPr/>
                    <a:lstStyle/>
                    <a:p>
                      <a:pPr algn="ctr"/>
                      <a:r>
                        <a:rPr sz="950" b="1">
                          <a:solidFill>
                            <a:srgbClr val="FFFFFF"/>
                          </a:solidFill>
                          <a:latin typeface="Calibri"/>
                        </a:rPr>
                        <a:t>Hồ chứa</a:t>
                      </a:r>
                    </a:p>
                  </a:txBody>
                  <a:tcPr>
                    <a:solidFill>
                      <a:srgbClr val="006994"/>
                    </a:solidFill>
                  </a:tcPr>
                </a:tc>
                <a:tc>
                  <a:txBody>
                    <a:bodyPr/>
                    <a:lstStyle/>
                    <a:p>
                      <a:pPr algn="ctr"/>
                      <a:r>
                        <a:rPr sz="950" b="1">
                          <a:solidFill>
                            <a:srgbClr val="FFFFFF"/>
                          </a:solidFill>
                          <a:latin typeface="Calibri"/>
                        </a:rPr>
                        <a:t>NSE</a:t>
                      </a:r>
                    </a:p>
                  </a:txBody>
                  <a:tcPr>
                    <a:solidFill>
                      <a:srgbClr val="006994"/>
                    </a:solidFill>
                  </a:tcPr>
                </a:tc>
                <a:tc>
                  <a:txBody>
                    <a:bodyPr/>
                    <a:lstStyle/>
                    <a:p>
                      <a:pPr algn="ctr"/>
                      <a:r>
                        <a:rPr sz="950" b="1">
                          <a:solidFill>
                            <a:srgbClr val="FFFFFF"/>
                          </a:solidFill>
                          <a:latin typeface="Calibri"/>
                        </a:rPr>
                        <a:t>MAE (m³/s)</a:t>
                      </a:r>
                    </a:p>
                  </a:txBody>
                  <a:tcPr>
                    <a:solidFill>
                      <a:srgbClr val="006994"/>
                    </a:solidFill>
                  </a:tcPr>
                </a:tc>
                <a:tc>
                  <a:txBody>
                    <a:bodyPr/>
                    <a:lstStyle/>
                    <a:p>
                      <a:pPr algn="ctr"/>
                      <a:r>
                        <a:rPr sz="950" b="1">
                          <a:solidFill>
                            <a:srgbClr val="FFFFFF"/>
                          </a:solidFill>
                          <a:latin typeface="Calibri"/>
                        </a:rPr>
                        <a:t>RMSE (m³/s)</a:t>
                      </a:r>
                    </a:p>
                  </a:txBody>
                  <a:tcPr>
                    <a:solidFill>
                      <a:srgbClr val="006994"/>
                    </a:solidFill>
                  </a:tcPr>
                </a:tc>
              </a:tr>
              <a:tr h="294640">
                <a:tc>
                  <a:txBody>
                    <a:bodyPr/>
                    <a:lstStyle/>
                    <a:p>
                      <a:pPr algn="l"/>
                      <a:r>
                        <a:rPr sz="950">
                          <a:solidFill>
                            <a:srgbClr val="0D0033"/>
                          </a:solidFill>
                          <a:latin typeface="Calibri"/>
                        </a:rPr>
                        <a:t>A Vương</a:t>
                      </a:r>
                    </a:p>
                  </a:txBody>
                  <a:tcPr>
                    <a:solidFill>
                      <a:srgbClr val="FFFFFF"/>
                    </a:solidFill>
                  </a:tcPr>
                </a:tc>
                <a:tc>
                  <a:txBody>
                    <a:bodyPr/>
                    <a:lstStyle/>
                    <a:p>
                      <a:pPr algn="ctr"/>
                      <a:r>
                        <a:rPr sz="950">
                          <a:solidFill>
                            <a:srgbClr val="0D0033"/>
                          </a:solidFill>
                          <a:latin typeface="Calibri"/>
                        </a:rPr>
                        <a:t>0,884</a:t>
                      </a:r>
                    </a:p>
                  </a:txBody>
                  <a:tcPr>
                    <a:solidFill>
                      <a:srgbClr val="FFFFFF"/>
                    </a:solidFill>
                  </a:tcPr>
                </a:tc>
                <a:tc>
                  <a:txBody>
                    <a:bodyPr/>
                    <a:lstStyle/>
                    <a:p>
                      <a:pPr algn="ctr"/>
                      <a:r>
                        <a:rPr sz="950">
                          <a:solidFill>
                            <a:srgbClr val="0D0033"/>
                          </a:solidFill>
                          <a:latin typeface="Calibri"/>
                        </a:rPr>
                        <a:t>32,1</a:t>
                      </a:r>
                    </a:p>
                  </a:txBody>
                  <a:tcPr>
                    <a:solidFill>
                      <a:srgbClr val="FFFFFF"/>
                    </a:solidFill>
                  </a:tcPr>
                </a:tc>
                <a:tc>
                  <a:txBody>
                    <a:bodyPr/>
                    <a:lstStyle/>
                    <a:p>
                      <a:pPr algn="ctr"/>
                      <a:r>
                        <a:rPr sz="950">
                          <a:solidFill>
                            <a:srgbClr val="0D0033"/>
                          </a:solidFill>
                          <a:latin typeface="Calibri"/>
                        </a:rPr>
                        <a:t>51,4</a:t>
                      </a:r>
                    </a:p>
                  </a:txBody>
                  <a:tcPr>
                    <a:solidFill>
                      <a:srgbClr val="FFFFFF"/>
                    </a:solidFill>
                  </a:tcPr>
                </a:tc>
              </a:tr>
              <a:tr h="294640">
                <a:tc>
                  <a:txBody>
                    <a:bodyPr/>
                    <a:lstStyle/>
                    <a:p>
                      <a:pPr algn="l"/>
                      <a:r>
                        <a:rPr sz="950">
                          <a:solidFill>
                            <a:srgbClr val="0D0033"/>
                          </a:solidFill>
                          <a:latin typeface="Calibri"/>
                        </a:rPr>
                        <a:t>Đắk Mi 4</a:t>
                      </a:r>
                    </a:p>
                  </a:txBody>
                  <a:tcPr>
                    <a:solidFill>
                      <a:srgbClr val="F0F4F8"/>
                    </a:solidFill>
                  </a:tcPr>
                </a:tc>
                <a:tc>
                  <a:txBody>
                    <a:bodyPr/>
                    <a:lstStyle/>
                    <a:p>
                      <a:pPr algn="ctr"/>
                      <a:r>
                        <a:rPr sz="950">
                          <a:solidFill>
                            <a:srgbClr val="0D0033"/>
                          </a:solidFill>
                          <a:latin typeface="Calibri"/>
                        </a:rPr>
                        <a:t>0,871</a:t>
                      </a:r>
                    </a:p>
                  </a:txBody>
                  <a:tcPr>
                    <a:solidFill>
                      <a:srgbClr val="F0F4F8"/>
                    </a:solidFill>
                  </a:tcPr>
                </a:tc>
                <a:tc>
                  <a:txBody>
                    <a:bodyPr/>
                    <a:lstStyle/>
                    <a:p>
                      <a:pPr algn="ctr"/>
                      <a:r>
                        <a:rPr sz="950">
                          <a:solidFill>
                            <a:srgbClr val="0D0033"/>
                          </a:solidFill>
                          <a:latin typeface="Calibri"/>
                        </a:rPr>
                        <a:t>28,5</a:t>
                      </a:r>
                    </a:p>
                  </a:txBody>
                  <a:tcPr>
                    <a:solidFill>
                      <a:srgbClr val="F0F4F8"/>
                    </a:solidFill>
                  </a:tcPr>
                </a:tc>
                <a:tc>
                  <a:txBody>
                    <a:bodyPr/>
                    <a:lstStyle/>
                    <a:p>
                      <a:pPr algn="ctr"/>
                      <a:r>
                        <a:rPr sz="950">
                          <a:solidFill>
                            <a:srgbClr val="0D0033"/>
                          </a:solidFill>
                          <a:latin typeface="Calibri"/>
                        </a:rPr>
                        <a:t>45,8</a:t>
                      </a:r>
                    </a:p>
                  </a:txBody>
                  <a:tcPr>
                    <a:solidFill>
                      <a:srgbClr val="F0F4F8"/>
                    </a:solidFill>
                  </a:tcPr>
                </a:tc>
              </a:tr>
              <a:tr h="294640">
                <a:tc>
                  <a:txBody>
                    <a:bodyPr/>
                    <a:lstStyle/>
                    <a:p>
                      <a:pPr algn="l"/>
                      <a:r>
                        <a:rPr sz="950">
                          <a:solidFill>
                            <a:srgbClr val="0D0033"/>
                          </a:solidFill>
                          <a:latin typeface="Calibri"/>
                        </a:rPr>
                        <a:t>Sông Bung 4</a:t>
                      </a:r>
                    </a:p>
                  </a:txBody>
                  <a:tcPr>
                    <a:solidFill>
                      <a:srgbClr val="FFFFFF"/>
                    </a:solidFill>
                  </a:tcPr>
                </a:tc>
                <a:tc>
                  <a:txBody>
                    <a:bodyPr/>
                    <a:lstStyle/>
                    <a:p>
                      <a:pPr algn="ctr"/>
                      <a:r>
                        <a:rPr sz="950">
                          <a:solidFill>
                            <a:srgbClr val="0D0033"/>
                          </a:solidFill>
                          <a:latin typeface="Calibri"/>
                        </a:rPr>
                        <a:t>0,856</a:t>
                      </a:r>
                    </a:p>
                  </a:txBody>
                  <a:tcPr>
                    <a:solidFill>
                      <a:srgbClr val="FFFFFF"/>
                    </a:solidFill>
                  </a:tcPr>
                </a:tc>
                <a:tc>
                  <a:txBody>
                    <a:bodyPr/>
                    <a:lstStyle/>
                    <a:p>
                      <a:pPr algn="ctr"/>
                      <a:r>
                        <a:rPr sz="950">
                          <a:solidFill>
                            <a:srgbClr val="0D0033"/>
                          </a:solidFill>
                          <a:latin typeface="Calibri"/>
                        </a:rPr>
                        <a:t>35,7</a:t>
                      </a:r>
                    </a:p>
                  </a:txBody>
                  <a:tcPr>
                    <a:solidFill>
                      <a:srgbClr val="FFFFFF"/>
                    </a:solidFill>
                  </a:tcPr>
                </a:tc>
                <a:tc>
                  <a:txBody>
                    <a:bodyPr/>
                    <a:lstStyle/>
                    <a:p>
                      <a:pPr algn="ctr"/>
                      <a:r>
                        <a:rPr sz="950">
                          <a:solidFill>
                            <a:srgbClr val="0D0033"/>
                          </a:solidFill>
                          <a:latin typeface="Calibri"/>
                        </a:rPr>
                        <a:t>57,3</a:t>
                      </a:r>
                    </a:p>
                  </a:txBody>
                  <a:tcPr>
                    <a:solidFill>
                      <a:srgbClr val="FFFFFF"/>
                    </a:solidFill>
                  </a:tcPr>
                </a:tc>
              </a:tr>
              <a:tr h="294640">
                <a:tc>
                  <a:txBody>
                    <a:bodyPr/>
                    <a:lstStyle/>
                    <a:p>
                      <a:pPr algn="l"/>
                      <a:r>
                        <a:rPr sz="950">
                          <a:solidFill>
                            <a:srgbClr val="0D0033"/>
                          </a:solidFill>
                          <a:latin typeface="Calibri"/>
                        </a:rPr>
                        <a:t>Sông Tranh 2</a:t>
                      </a:r>
                    </a:p>
                  </a:txBody>
                  <a:tcPr>
                    <a:solidFill>
                      <a:srgbClr val="F0F4F8"/>
                    </a:solidFill>
                  </a:tcPr>
                </a:tc>
                <a:tc>
                  <a:txBody>
                    <a:bodyPr/>
                    <a:lstStyle/>
                    <a:p>
                      <a:pPr algn="ctr"/>
                      <a:r>
                        <a:rPr sz="950">
                          <a:solidFill>
                            <a:srgbClr val="0D0033"/>
                          </a:solidFill>
                          <a:latin typeface="Calibri"/>
                        </a:rPr>
                        <a:t>0,912</a:t>
                      </a:r>
                    </a:p>
                  </a:txBody>
                  <a:tcPr>
                    <a:solidFill>
                      <a:srgbClr val="F0F4F8"/>
                    </a:solidFill>
                  </a:tcPr>
                </a:tc>
                <a:tc>
                  <a:txBody>
                    <a:bodyPr/>
                    <a:lstStyle/>
                    <a:p>
                      <a:pPr algn="ctr"/>
                      <a:r>
                        <a:rPr sz="950">
                          <a:solidFill>
                            <a:srgbClr val="0D0033"/>
                          </a:solidFill>
                          <a:latin typeface="Calibri"/>
                        </a:rPr>
                        <a:t>19,4</a:t>
                      </a:r>
                    </a:p>
                  </a:txBody>
                  <a:tcPr>
                    <a:solidFill>
                      <a:srgbClr val="F0F4F8"/>
                    </a:solidFill>
                  </a:tcPr>
                </a:tc>
                <a:tc>
                  <a:txBody>
                    <a:bodyPr/>
                    <a:lstStyle/>
                    <a:p>
                      <a:pPr algn="ctr"/>
                      <a:r>
                        <a:rPr sz="950">
                          <a:solidFill>
                            <a:srgbClr val="0D0033"/>
                          </a:solidFill>
                          <a:latin typeface="Calibri"/>
                        </a:rPr>
                        <a:t>31,2</a:t>
                      </a:r>
                    </a:p>
                  </a:txBody>
                  <a:tcPr>
                    <a:solidFill>
                      <a:srgbClr val="F0F4F8"/>
                    </a:solidFill>
                  </a:tcPr>
                </a:tc>
              </a:tr>
              <a:tr h="294640">
                <a:tc>
                  <a:txBody>
                    <a:bodyPr/>
                    <a:lstStyle/>
                    <a:p>
                      <a:pPr algn="l"/>
                      <a:r>
                        <a:rPr sz="950">
                          <a:solidFill>
                            <a:srgbClr val="0D0033"/>
                          </a:solidFill>
                          <a:latin typeface="Calibri"/>
                        </a:rPr>
                        <a:t>Sông Bung 4A</a:t>
                      </a:r>
                    </a:p>
                  </a:txBody>
                  <a:tcPr>
                    <a:solidFill>
                      <a:srgbClr val="FFFFFF"/>
                    </a:solidFill>
                  </a:tcPr>
                </a:tc>
                <a:tc>
                  <a:txBody>
                    <a:bodyPr/>
                    <a:lstStyle/>
                    <a:p>
                      <a:pPr algn="ctr"/>
                      <a:r>
                        <a:rPr sz="950">
                          <a:solidFill>
                            <a:srgbClr val="0D0033"/>
                          </a:solidFill>
                          <a:latin typeface="Calibri"/>
                        </a:rPr>
                        <a:t>0,748</a:t>
                      </a:r>
                    </a:p>
                  </a:txBody>
                  <a:tcPr>
                    <a:solidFill>
                      <a:srgbClr val="FFFFFF"/>
                    </a:solidFill>
                  </a:tcPr>
                </a:tc>
                <a:tc>
                  <a:txBody>
                    <a:bodyPr/>
                    <a:lstStyle/>
                    <a:p>
                      <a:pPr algn="ctr"/>
                      <a:r>
                        <a:rPr sz="950">
                          <a:solidFill>
                            <a:srgbClr val="0D0033"/>
                          </a:solidFill>
                          <a:latin typeface="Calibri"/>
                        </a:rPr>
                        <a:t>41,2</a:t>
                      </a:r>
                    </a:p>
                  </a:txBody>
                  <a:tcPr>
                    <a:solidFill>
                      <a:srgbClr val="FFFFFF"/>
                    </a:solidFill>
                  </a:tcPr>
                </a:tc>
                <a:tc>
                  <a:txBody>
                    <a:bodyPr/>
                    <a:lstStyle/>
                    <a:p>
                      <a:pPr algn="ctr"/>
                      <a:r>
                        <a:rPr sz="950">
                          <a:solidFill>
                            <a:srgbClr val="0D0033"/>
                          </a:solidFill>
                          <a:latin typeface="Calibri"/>
                        </a:rPr>
                        <a:t>66,5</a:t>
                      </a:r>
                    </a:p>
                  </a:txBody>
                  <a:tcPr>
                    <a:solidFill>
                      <a:srgbClr val="FFFFFF"/>
                    </a:solidFill>
                  </a:tcPr>
                </a:tc>
              </a:tr>
              <a:tr h="294640">
                <a:tc>
                  <a:txBody>
                    <a:bodyPr/>
                    <a:lstStyle/>
                    <a:p>
                      <a:pPr algn="l"/>
                      <a:r>
                        <a:rPr sz="950">
                          <a:solidFill>
                            <a:srgbClr val="0D0033"/>
                          </a:solidFill>
                          <a:latin typeface="Calibri"/>
                        </a:rPr>
                        <a:t>Sông Bung 5</a:t>
                      </a:r>
                    </a:p>
                  </a:txBody>
                  <a:tcPr>
                    <a:solidFill>
                      <a:srgbClr val="F0F4F8"/>
                    </a:solidFill>
                  </a:tcPr>
                </a:tc>
                <a:tc>
                  <a:txBody>
                    <a:bodyPr/>
                    <a:lstStyle/>
                    <a:p>
                      <a:pPr algn="ctr"/>
                      <a:r>
                        <a:rPr sz="950">
                          <a:solidFill>
                            <a:srgbClr val="0D0033"/>
                          </a:solidFill>
                          <a:latin typeface="Calibri"/>
                        </a:rPr>
                        <a:t>0,803</a:t>
                      </a:r>
                    </a:p>
                  </a:txBody>
                  <a:tcPr>
                    <a:solidFill>
                      <a:srgbClr val="F0F4F8"/>
                    </a:solidFill>
                  </a:tcPr>
                </a:tc>
                <a:tc>
                  <a:txBody>
                    <a:bodyPr/>
                    <a:lstStyle/>
                    <a:p>
                      <a:pPr algn="ctr"/>
                      <a:r>
                        <a:rPr sz="950">
                          <a:solidFill>
                            <a:srgbClr val="0D0033"/>
                          </a:solidFill>
                          <a:latin typeface="Calibri"/>
                        </a:rPr>
                        <a:t>26,8</a:t>
                      </a:r>
                    </a:p>
                  </a:txBody>
                  <a:tcPr>
                    <a:solidFill>
                      <a:srgbClr val="F0F4F8"/>
                    </a:solidFill>
                  </a:tcPr>
                </a:tc>
                <a:tc>
                  <a:txBody>
                    <a:bodyPr/>
                    <a:lstStyle/>
                    <a:p>
                      <a:pPr algn="ctr"/>
                      <a:r>
                        <a:rPr sz="950">
                          <a:solidFill>
                            <a:srgbClr val="0D0033"/>
                          </a:solidFill>
                          <a:latin typeface="Calibri"/>
                        </a:rPr>
                        <a:t>43,1</a:t>
                      </a:r>
                    </a:p>
                  </a:txBody>
                  <a:tcPr>
                    <a:solidFill>
                      <a:srgbClr val="F0F4F8"/>
                    </a:solidFill>
                  </a:tcPr>
                </a:tc>
              </a:tr>
              <a:tr h="294640">
                <a:tc>
                  <a:txBody>
                    <a:bodyPr/>
                    <a:lstStyle/>
                    <a:p>
                      <a:pPr algn="l"/>
                      <a:r>
                        <a:rPr sz="950">
                          <a:solidFill>
                            <a:srgbClr val="0D0033"/>
                          </a:solidFill>
                          <a:latin typeface="Calibri"/>
                        </a:rPr>
                        <a:t>Sông Bung 2</a:t>
                      </a:r>
                    </a:p>
                  </a:txBody>
                  <a:tcPr>
                    <a:solidFill>
                      <a:srgbClr val="FFFFFF"/>
                    </a:solidFill>
                  </a:tcPr>
                </a:tc>
                <a:tc>
                  <a:txBody>
                    <a:bodyPr/>
                    <a:lstStyle/>
                    <a:p>
                      <a:pPr algn="ctr"/>
                      <a:r>
                        <a:rPr sz="950">
                          <a:solidFill>
                            <a:srgbClr val="0D0033"/>
                          </a:solidFill>
                          <a:latin typeface="Calibri"/>
                        </a:rPr>
                        <a:t>0,831</a:t>
                      </a:r>
                    </a:p>
                  </a:txBody>
                  <a:tcPr>
                    <a:solidFill>
                      <a:srgbClr val="FFFFFF"/>
                    </a:solidFill>
                  </a:tcPr>
                </a:tc>
                <a:tc>
                  <a:txBody>
                    <a:bodyPr/>
                    <a:lstStyle/>
                    <a:p>
                      <a:pPr algn="ctr"/>
                      <a:r>
                        <a:rPr sz="950">
                          <a:solidFill>
                            <a:srgbClr val="0D0033"/>
                          </a:solidFill>
                          <a:latin typeface="Calibri"/>
                        </a:rPr>
                        <a:t>38,4</a:t>
                      </a:r>
                    </a:p>
                  </a:txBody>
                  <a:tcPr>
                    <a:solidFill>
                      <a:srgbClr val="FFFFFF"/>
                    </a:solidFill>
                  </a:tcPr>
                </a:tc>
                <a:tc>
                  <a:txBody>
                    <a:bodyPr/>
                    <a:lstStyle/>
                    <a:p>
                      <a:pPr algn="ctr"/>
                      <a:r>
                        <a:rPr sz="950">
                          <a:solidFill>
                            <a:srgbClr val="0D0033"/>
                          </a:solidFill>
                          <a:latin typeface="Calibri"/>
                        </a:rPr>
                        <a:t>61,0</a:t>
                      </a:r>
                    </a:p>
                  </a:txBody>
                  <a:tcPr>
                    <a:solidFill>
                      <a:srgbClr val="FFFFFF"/>
                    </a:solidFill>
                  </a:tcPr>
                </a:tc>
              </a:tr>
              <a:tr h="294640">
                <a:tc>
                  <a:txBody>
                    <a:bodyPr/>
                    <a:lstStyle/>
                    <a:p>
                      <a:pPr algn="l"/>
                      <a:r>
                        <a:rPr sz="950">
                          <a:solidFill>
                            <a:srgbClr val="0D0033"/>
                          </a:solidFill>
                          <a:latin typeface="Calibri"/>
                        </a:rPr>
                        <a:t>Sông Bung 6</a:t>
                      </a:r>
                    </a:p>
                  </a:txBody>
                  <a:tcPr>
                    <a:solidFill>
                      <a:srgbClr val="F0F4F8"/>
                    </a:solidFill>
                  </a:tcPr>
                </a:tc>
                <a:tc>
                  <a:txBody>
                    <a:bodyPr/>
                    <a:lstStyle/>
                    <a:p>
                      <a:pPr algn="ctr"/>
                      <a:r>
                        <a:rPr sz="950">
                          <a:solidFill>
                            <a:srgbClr val="0D0033"/>
                          </a:solidFill>
                          <a:latin typeface="Calibri"/>
                        </a:rPr>
                        <a:t>0,769</a:t>
                      </a:r>
                    </a:p>
                  </a:txBody>
                  <a:tcPr>
                    <a:solidFill>
                      <a:srgbClr val="F0F4F8"/>
                    </a:solidFill>
                  </a:tcPr>
                </a:tc>
                <a:tc>
                  <a:txBody>
                    <a:bodyPr/>
                    <a:lstStyle/>
                    <a:p>
                      <a:pPr algn="ctr"/>
                      <a:r>
                        <a:rPr sz="950">
                          <a:solidFill>
                            <a:srgbClr val="0D0033"/>
                          </a:solidFill>
                          <a:latin typeface="Calibri"/>
                        </a:rPr>
                        <a:t>44,3</a:t>
                      </a:r>
                    </a:p>
                  </a:txBody>
                  <a:tcPr>
                    <a:solidFill>
                      <a:srgbClr val="F0F4F8"/>
                    </a:solidFill>
                  </a:tcPr>
                </a:tc>
                <a:tc>
                  <a:txBody>
                    <a:bodyPr/>
                    <a:lstStyle/>
                    <a:p>
                      <a:pPr algn="ctr"/>
                      <a:r>
                        <a:rPr sz="950">
                          <a:solidFill>
                            <a:srgbClr val="0D0033"/>
                          </a:solidFill>
                          <a:latin typeface="Calibri"/>
                        </a:rPr>
                        <a:t>71,2</a:t>
                      </a:r>
                    </a:p>
                  </a:txBody>
                  <a:tcPr>
                    <a:solidFill>
                      <a:srgbClr val="F0F4F8"/>
                    </a:solidFill>
                  </a:tcPr>
                </a:tc>
              </a:tr>
              <a:tr h="294640">
                <a:tc>
                  <a:txBody>
                    <a:bodyPr/>
                    <a:lstStyle/>
                    <a:p>
                      <a:pPr algn="l"/>
                      <a:r>
                        <a:rPr sz="950">
                          <a:solidFill>
                            <a:srgbClr val="0D0033"/>
                          </a:solidFill>
                          <a:latin typeface="Calibri"/>
                        </a:rPr>
                        <a:t>Sông Tranh 3</a:t>
                      </a:r>
                    </a:p>
                  </a:txBody>
                  <a:tcPr>
                    <a:solidFill>
                      <a:srgbClr val="FFFFFF"/>
                    </a:solidFill>
                  </a:tcPr>
                </a:tc>
                <a:tc>
                  <a:txBody>
                    <a:bodyPr/>
                    <a:lstStyle/>
                    <a:p>
                      <a:pPr algn="ctr"/>
                      <a:r>
                        <a:rPr sz="950">
                          <a:solidFill>
                            <a:srgbClr val="0D0033"/>
                          </a:solidFill>
                          <a:latin typeface="Calibri"/>
                        </a:rPr>
                        <a:t>0,887</a:t>
                      </a:r>
                    </a:p>
                  </a:txBody>
                  <a:tcPr>
                    <a:solidFill>
                      <a:srgbClr val="FFFFFF"/>
                    </a:solidFill>
                  </a:tcPr>
                </a:tc>
                <a:tc>
                  <a:txBody>
                    <a:bodyPr/>
                    <a:lstStyle/>
                    <a:p>
                      <a:pPr algn="ctr"/>
                      <a:r>
                        <a:rPr sz="950">
                          <a:solidFill>
                            <a:srgbClr val="0D0033"/>
                          </a:solidFill>
                          <a:latin typeface="Calibri"/>
                        </a:rPr>
                        <a:t>17,6</a:t>
                      </a:r>
                    </a:p>
                  </a:txBody>
                  <a:tcPr>
                    <a:solidFill>
                      <a:srgbClr val="FFFFFF"/>
                    </a:solidFill>
                  </a:tcPr>
                </a:tc>
                <a:tc>
                  <a:txBody>
                    <a:bodyPr/>
                    <a:lstStyle/>
                    <a:p>
                      <a:pPr algn="ctr"/>
                      <a:r>
                        <a:rPr sz="950">
                          <a:solidFill>
                            <a:srgbClr val="0D0033"/>
                          </a:solidFill>
                          <a:latin typeface="Calibri"/>
                        </a:rPr>
                        <a:t>28,9</a:t>
                      </a:r>
                    </a:p>
                  </a:txBody>
                  <a:tcPr>
                    <a:solidFill>
                      <a:srgbClr val="FFFFFF"/>
                    </a:solidFill>
                  </a:tcPr>
                </a:tc>
              </a:tr>
              <a:tr h="294640">
                <a:tc>
                  <a:txBody>
                    <a:bodyPr/>
                    <a:lstStyle/>
                    <a:p>
                      <a:pPr algn="l"/>
                      <a:r>
                        <a:rPr sz="950">
                          <a:solidFill>
                            <a:srgbClr val="0D0033"/>
                          </a:solidFill>
                          <a:latin typeface="Calibri"/>
                        </a:rPr>
                        <a:t>Za Hung</a:t>
                      </a:r>
                    </a:p>
                  </a:txBody>
                  <a:tcPr>
                    <a:solidFill>
                      <a:srgbClr val="F0F4F8"/>
                    </a:solidFill>
                  </a:tcPr>
                </a:tc>
                <a:tc>
                  <a:txBody>
                    <a:bodyPr/>
                    <a:lstStyle/>
                    <a:p>
                      <a:pPr algn="ctr"/>
                      <a:r>
                        <a:rPr sz="950">
                          <a:solidFill>
                            <a:srgbClr val="0D0033"/>
                          </a:solidFill>
                          <a:latin typeface="Calibri"/>
                        </a:rPr>
                        <a:t>0,792</a:t>
                      </a:r>
                    </a:p>
                  </a:txBody>
                  <a:tcPr>
                    <a:solidFill>
                      <a:srgbClr val="F0F4F8"/>
                    </a:solidFill>
                  </a:tcPr>
                </a:tc>
                <a:tc>
                  <a:txBody>
                    <a:bodyPr/>
                    <a:lstStyle/>
                    <a:p>
                      <a:pPr algn="ctr"/>
                      <a:r>
                        <a:rPr sz="950">
                          <a:solidFill>
                            <a:srgbClr val="0D0033"/>
                          </a:solidFill>
                          <a:latin typeface="Calibri"/>
                        </a:rPr>
                        <a:t>52,1</a:t>
                      </a:r>
                    </a:p>
                  </a:txBody>
                  <a:tcPr>
                    <a:solidFill>
                      <a:srgbClr val="F0F4F8"/>
                    </a:solidFill>
                  </a:tcPr>
                </a:tc>
                <a:tc>
                  <a:txBody>
                    <a:bodyPr/>
                    <a:lstStyle/>
                    <a:p>
                      <a:pPr algn="ctr"/>
                      <a:r>
                        <a:rPr sz="950">
                          <a:solidFill>
                            <a:srgbClr val="0D0033"/>
                          </a:solidFill>
                          <a:latin typeface="Calibri"/>
                        </a:rPr>
                        <a:t>83,4</a:t>
                      </a:r>
                    </a:p>
                  </a:txBody>
                  <a:tcPr>
                    <a:solidFill>
                      <a:srgbClr val="F0F4F8"/>
                    </a:solidFill>
                  </a:tcPr>
                </a:tc>
              </a:tr>
              <a:tr h="294640">
                <a:tc>
                  <a:txBody>
                    <a:bodyPr/>
                    <a:lstStyle/>
                    <a:p>
                      <a:pPr algn="l"/>
                      <a:r>
                        <a:rPr sz="950">
                          <a:solidFill>
                            <a:srgbClr val="0D0033"/>
                          </a:solidFill>
                          <a:latin typeface="Calibri"/>
                        </a:rPr>
                        <a:t>Đắk Mi 3</a:t>
                      </a:r>
                    </a:p>
                  </a:txBody>
                  <a:tcPr>
                    <a:solidFill>
                      <a:srgbClr val="FFFFFF"/>
                    </a:solidFill>
                  </a:tcPr>
                </a:tc>
                <a:tc>
                  <a:txBody>
                    <a:bodyPr/>
                    <a:lstStyle/>
                    <a:p>
                      <a:pPr algn="ctr"/>
                      <a:r>
                        <a:rPr sz="950">
                          <a:solidFill>
                            <a:srgbClr val="0D0033"/>
                          </a:solidFill>
                          <a:latin typeface="Calibri"/>
                        </a:rPr>
                        <a:t>0,815</a:t>
                      </a:r>
                    </a:p>
                  </a:txBody>
                  <a:tcPr>
                    <a:solidFill>
                      <a:srgbClr val="FFFFFF"/>
                    </a:solidFill>
                  </a:tcPr>
                </a:tc>
                <a:tc>
                  <a:txBody>
                    <a:bodyPr/>
                    <a:lstStyle/>
                    <a:p>
                      <a:pPr algn="ctr"/>
                      <a:r>
                        <a:rPr sz="950">
                          <a:solidFill>
                            <a:srgbClr val="0D0033"/>
                          </a:solidFill>
                          <a:latin typeface="Calibri"/>
                        </a:rPr>
                        <a:t>31,0</a:t>
                      </a:r>
                    </a:p>
                  </a:txBody>
                  <a:tcPr>
                    <a:solidFill>
                      <a:srgbClr val="FFFFFF"/>
                    </a:solidFill>
                  </a:tcPr>
                </a:tc>
                <a:tc>
                  <a:txBody>
                    <a:bodyPr/>
                    <a:lstStyle/>
                    <a:p>
                      <a:pPr algn="ctr"/>
                      <a:r>
                        <a:rPr sz="950">
                          <a:solidFill>
                            <a:srgbClr val="0D0033"/>
                          </a:solidFill>
                          <a:latin typeface="Calibri"/>
                        </a:rPr>
                        <a:t>49,7</a:t>
                      </a:r>
                    </a:p>
                  </a:txBody>
                  <a:tcPr>
                    <a:solidFill>
                      <a:srgbClr val="FFFFFF"/>
                    </a:solidFill>
                  </a:tcPr>
                </a:tc>
              </a:tr>
              <a:tr h="294640">
                <a:tc>
                  <a:txBody>
                    <a:bodyPr/>
                    <a:lstStyle/>
                    <a:p>
                      <a:pPr algn="l"/>
                      <a:r>
                        <a:rPr sz="950">
                          <a:solidFill>
                            <a:srgbClr val="0D0033"/>
                          </a:solidFill>
                          <a:latin typeface="Calibri"/>
                        </a:rPr>
                        <a:t>Khế Diên</a:t>
                      </a:r>
                    </a:p>
                  </a:txBody>
                  <a:tcPr>
                    <a:solidFill>
                      <a:srgbClr val="F0F4F8"/>
                    </a:solidFill>
                  </a:tcPr>
                </a:tc>
                <a:tc>
                  <a:txBody>
                    <a:bodyPr/>
                    <a:lstStyle/>
                    <a:p>
                      <a:pPr algn="ctr"/>
                      <a:r>
                        <a:rPr sz="950">
                          <a:solidFill>
                            <a:srgbClr val="0D0033"/>
                          </a:solidFill>
                          <a:latin typeface="Calibri"/>
                        </a:rPr>
                        <a:t>0,758</a:t>
                      </a:r>
                    </a:p>
                  </a:txBody>
                  <a:tcPr>
                    <a:solidFill>
                      <a:srgbClr val="F0F4F8"/>
                    </a:solidFill>
                  </a:tcPr>
                </a:tc>
                <a:tc>
                  <a:txBody>
                    <a:bodyPr/>
                    <a:lstStyle/>
                    <a:p>
                      <a:pPr algn="ctr"/>
                      <a:r>
                        <a:rPr sz="950">
                          <a:solidFill>
                            <a:srgbClr val="0D0033"/>
                          </a:solidFill>
                          <a:latin typeface="Calibri"/>
                        </a:rPr>
                        <a:t>23,5</a:t>
                      </a:r>
                    </a:p>
                  </a:txBody>
                  <a:tcPr>
                    <a:solidFill>
                      <a:srgbClr val="F0F4F8"/>
                    </a:solidFill>
                  </a:tcPr>
                </a:tc>
                <a:tc>
                  <a:txBody>
                    <a:bodyPr/>
                    <a:lstStyle/>
                    <a:p>
                      <a:pPr algn="ctr"/>
                      <a:r>
                        <a:rPr sz="950">
                          <a:solidFill>
                            <a:srgbClr val="0D0033"/>
                          </a:solidFill>
                          <a:latin typeface="Calibri"/>
                        </a:rPr>
                        <a:t>37,8</a:t>
                      </a:r>
                    </a:p>
                  </a:txBody>
                  <a:tcPr>
                    <a:solidFill>
                      <a:srgbClr val="F0F4F8"/>
                    </a:solidFill>
                  </a:tcPr>
                </a:tc>
              </a:tr>
              <a:tr h="294640">
                <a:tc>
                  <a:txBody>
                    <a:bodyPr/>
                    <a:lstStyle/>
                    <a:p>
                      <a:pPr algn="l"/>
                      <a:r>
                        <a:rPr sz="950">
                          <a:solidFill>
                            <a:srgbClr val="0D0033"/>
                          </a:solidFill>
                          <a:latin typeface="Calibri"/>
                        </a:rPr>
                        <a:t>Sông Con 2</a:t>
                      </a:r>
                    </a:p>
                  </a:txBody>
                  <a:tcPr>
                    <a:solidFill>
                      <a:srgbClr val="FFFFFF"/>
                    </a:solidFill>
                  </a:tcPr>
                </a:tc>
                <a:tc>
                  <a:txBody>
                    <a:bodyPr/>
                    <a:lstStyle/>
                    <a:p>
                      <a:pPr algn="ctr"/>
                      <a:r>
                        <a:rPr sz="950">
                          <a:solidFill>
                            <a:srgbClr val="0D0033"/>
                          </a:solidFill>
                          <a:latin typeface="Calibri"/>
                        </a:rPr>
                        <a:t>0,844</a:t>
                      </a:r>
                    </a:p>
                  </a:txBody>
                  <a:tcPr>
                    <a:solidFill>
                      <a:srgbClr val="FFFFFF"/>
                    </a:solidFill>
                  </a:tcPr>
                </a:tc>
                <a:tc>
                  <a:txBody>
                    <a:bodyPr/>
                    <a:lstStyle/>
                    <a:p>
                      <a:pPr algn="ctr"/>
                      <a:r>
                        <a:rPr sz="950">
                          <a:solidFill>
                            <a:srgbClr val="0D0033"/>
                          </a:solidFill>
                          <a:latin typeface="Calibri"/>
                        </a:rPr>
                        <a:t>27,9</a:t>
                      </a:r>
                    </a:p>
                  </a:txBody>
                  <a:tcPr>
                    <a:solidFill>
                      <a:srgbClr val="FFFFFF"/>
                    </a:solidFill>
                  </a:tcPr>
                </a:tc>
                <a:tc>
                  <a:txBody>
                    <a:bodyPr/>
                    <a:lstStyle/>
                    <a:p>
                      <a:pPr algn="ctr"/>
                      <a:r>
                        <a:rPr sz="950">
                          <a:solidFill>
                            <a:srgbClr val="0D0033"/>
                          </a:solidFill>
                          <a:latin typeface="Calibri"/>
                        </a:rPr>
                        <a:t>44,6</a:t>
                      </a:r>
                    </a:p>
                  </a:txBody>
                  <a:tcPr>
                    <a:solidFill>
                      <a:srgbClr val="FFFFFF"/>
                    </a:solidFill>
                  </a:tcPr>
                </a:tc>
              </a:tr>
              <a:tr h="294640">
                <a:tc>
                  <a:txBody>
                    <a:bodyPr/>
                    <a:lstStyle/>
                    <a:p>
                      <a:pPr algn="l"/>
                      <a:r>
                        <a:rPr sz="950">
                          <a:solidFill>
                            <a:srgbClr val="0D0033"/>
                          </a:solidFill>
                          <a:latin typeface="Calibri"/>
                        </a:rPr>
                        <a:t>Sông Tranh 4</a:t>
                      </a:r>
                    </a:p>
                  </a:txBody>
                  <a:tcPr>
                    <a:solidFill>
                      <a:srgbClr val="F0F4F8"/>
                    </a:solidFill>
                  </a:tcPr>
                </a:tc>
                <a:tc>
                  <a:txBody>
                    <a:bodyPr/>
                    <a:lstStyle/>
                    <a:p>
                      <a:pPr algn="ctr"/>
                      <a:r>
                        <a:rPr sz="950">
                          <a:solidFill>
                            <a:srgbClr val="0D0033"/>
                          </a:solidFill>
                          <a:latin typeface="Calibri"/>
                        </a:rPr>
                        <a:t>0,878</a:t>
                      </a:r>
                    </a:p>
                  </a:txBody>
                  <a:tcPr>
                    <a:solidFill>
                      <a:srgbClr val="F0F4F8"/>
                    </a:solidFill>
                  </a:tcPr>
                </a:tc>
                <a:tc>
                  <a:txBody>
                    <a:bodyPr/>
                    <a:lstStyle/>
                    <a:p>
                      <a:pPr algn="ctr"/>
                      <a:r>
                        <a:rPr sz="950">
                          <a:solidFill>
                            <a:srgbClr val="0D0033"/>
                          </a:solidFill>
                          <a:latin typeface="Calibri"/>
                        </a:rPr>
                        <a:t>21,3</a:t>
                      </a:r>
                    </a:p>
                  </a:txBody>
                  <a:tcPr>
                    <a:solidFill>
                      <a:srgbClr val="F0F4F8"/>
                    </a:solidFill>
                  </a:tcPr>
                </a:tc>
                <a:tc>
                  <a:txBody>
                    <a:bodyPr/>
                    <a:lstStyle/>
                    <a:p>
                      <a:pPr algn="ctr"/>
                      <a:r>
                        <a:rPr sz="950">
                          <a:solidFill>
                            <a:srgbClr val="0D0033"/>
                          </a:solidFill>
                          <a:latin typeface="Calibri"/>
                        </a:rPr>
                        <a:t>34,1</a:t>
                      </a:r>
                    </a:p>
                  </a:txBody>
                  <a:tcPr>
                    <a:solidFill>
                      <a:srgbClr val="F0F4F8"/>
                    </a:solidFill>
                  </a:tcPr>
                </a:tc>
              </a:tr>
              <a:tr h="294640">
                <a:tc>
                  <a:txBody>
                    <a:bodyPr/>
                    <a:lstStyle/>
                    <a:p>
                      <a:pPr algn="l"/>
                      <a:r>
                        <a:rPr sz="950">
                          <a:solidFill>
                            <a:srgbClr val="0D0033"/>
                          </a:solidFill>
                          <a:latin typeface="Calibri"/>
                        </a:rPr>
                        <a:t>Đắk Mi 2</a:t>
                      </a:r>
                    </a:p>
                  </a:txBody>
                  <a:tcPr>
                    <a:solidFill>
                      <a:srgbClr val="FFFFFF"/>
                    </a:solidFill>
                  </a:tcPr>
                </a:tc>
                <a:tc>
                  <a:txBody>
                    <a:bodyPr/>
                    <a:lstStyle/>
                    <a:p>
                      <a:pPr algn="ctr"/>
                      <a:r>
                        <a:rPr sz="950">
                          <a:solidFill>
                            <a:srgbClr val="0D0033"/>
                          </a:solidFill>
                          <a:latin typeface="Calibri"/>
                        </a:rPr>
                        <a:t>0,826</a:t>
                      </a:r>
                    </a:p>
                  </a:txBody>
                  <a:tcPr>
                    <a:solidFill>
                      <a:srgbClr val="FFFFFF"/>
                    </a:solidFill>
                  </a:tcPr>
                </a:tc>
                <a:tc>
                  <a:txBody>
                    <a:bodyPr/>
                    <a:lstStyle/>
                    <a:p>
                      <a:pPr algn="ctr"/>
                      <a:r>
                        <a:rPr sz="950">
                          <a:solidFill>
                            <a:srgbClr val="0D0033"/>
                          </a:solidFill>
                          <a:latin typeface="Calibri"/>
                        </a:rPr>
                        <a:t>33,8</a:t>
                      </a:r>
                    </a:p>
                  </a:txBody>
                  <a:tcPr>
                    <a:solidFill>
                      <a:srgbClr val="FFFFFF"/>
                    </a:solidFill>
                  </a:tcPr>
                </a:tc>
                <a:tc>
                  <a:txBody>
                    <a:bodyPr/>
                    <a:lstStyle/>
                    <a:p>
                      <a:pPr algn="ctr"/>
                      <a:r>
                        <a:rPr sz="950">
                          <a:solidFill>
                            <a:srgbClr val="0D0033"/>
                          </a:solidFill>
                          <a:latin typeface="Calibri"/>
                        </a:rPr>
                        <a:t>54,2</a:t>
                      </a:r>
                    </a:p>
                  </a:txBody>
                  <a:tcPr>
                    <a:solidFill>
                      <a:srgbClr val="FFFFFF"/>
                    </a:solidFill>
                  </a:tcPr>
                </a:tc>
              </a:tr>
              <a:tr h="294640">
                <a:tc>
                  <a:txBody>
                    <a:bodyPr/>
                    <a:lstStyle/>
                    <a:p>
                      <a:pPr algn="l"/>
                      <a:r>
                        <a:rPr sz="950">
                          <a:solidFill>
                            <a:srgbClr val="0D0033"/>
                          </a:solidFill>
                          <a:latin typeface="Calibri"/>
                        </a:rPr>
                        <a:t>Đắk Mi 4C</a:t>
                      </a:r>
                    </a:p>
                  </a:txBody>
                  <a:tcPr>
                    <a:solidFill>
                      <a:srgbClr val="F0F4F8"/>
                    </a:solidFill>
                  </a:tcPr>
                </a:tc>
                <a:tc>
                  <a:txBody>
                    <a:bodyPr/>
                    <a:lstStyle/>
                    <a:p>
                      <a:pPr algn="ctr"/>
                      <a:r>
                        <a:rPr sz="950">
                          <a:solidFill>
                            <a:srgbClr val="0D0033"/>
                          </a:solidFill>
                          <a:latin typeface="Calibri"/>
                        </a:rPr>
                        <a:t>0,761</a:t>
                      </a:r>
                    </a:p>
                  </a:txBody>
                  <a:tcPr>
                    <a:solidFill>
                      <a:srgbClr val="F0F4F8"/>
                    </a:solidFill>
                  </a:tcPr>
                </a:tc>
                <a:tc>
                  <a:txBody>
                    <a:bodyPr/>
                    <a:lstStyle/>
                    <a:p>
                      <a:pPr algn="ctr"/>
                      <a:r>
                        <a:rPr sz="950">
                          <a:solidFill>
                            <a:srgbClr val="0D0033"/>
                          </a:solidFill>
                          <a:latin typeface="Calibri"/>
                        </a:rPr>
                        <a:t>29,4</a:t>
                      </a:r>
                    </a:p>
                  </a:txBody>
                  <a:tcPr>
                    <a:solidFill>
                      <a:srgbClr val="F0F4F8"/>
                    </a:solidFill>
                  </a:tcPr>
                </a:tc>
                <a:tc>
                  <a:txBody>
                    <a:bodyPr/>
                    <a:lstStyle/>
                    <a:p>
                      <a:pPr algn="ctr"/>
                      <a:r>
                        <a:rPr sz="950">
                          <a:solidFill>
                            <a:srgbClr val="0D0033"/>
                          </a:solidFill>
                          <a:latin typeface="Calibri"/>
                        </a:rPr>
                        <a:t>47,3</a:t>
                      </a:r>
                    </a:p>
                  </a:txBody>
                  <a:tcPr>
                    <a:solidFill>
                      <a:srgbClr val="F0F4F8"/>
                    </a:solidFill>
                  </a:tcPr>
                </a:tc>
              </a:tr>
              <a:tr h="294640">
                <a:tc>
                  <a:txBody>
                    <a:bodyPr/>
                    <a:lstStyle/>
                    <a:p>
                      <a:pPr algn="l"/>
                      <a:r>
                        <a:rPr sz="950">
                          <a:solidFill>
                            <a:srgbClr val="0D0033"/>
                          </a:solidFill>
                          <a:latin typeface="Calibri"/>
                        </a:rPr>
                        <a:t>TRUNG BÌNH</a:t>
                      </a:r>
                    </a:p>
                  </a:txBody>
                  <a:tcPr>
                    <a:solidFill>
                      <a:srgbClr val="FFFFFF"/>
                    </a:solidFill>
                  </a:tcPr>
                </a:tc>
                <a:tc>
                  <a:txBody>
                    <a:bodyPr/>
                    <a:lstStyle/>
                    <a:p>
                      <a:pPr algn="ctr"/>
                      <a:r>
                        <a:rPr sz="950">
                          <a:solidFill>
                            <a:srgbClr val="0D0033"/>
                          </a:solidFill>
                          <a:latin typeface="Calibri"/>
                        </a:rPr>
                        <a:t>0,840</a:t>
                      </a:r>
                    </a:p>
                  </a:txBody>
                  <a:tcPr>
                    <a:solidFill>
                      <a:srgbClr val="FFFFFF"/>
                    </a:solidFill>
                  </a:tcPr>
                </a:tc>
                <a:tc>
                  <a:txBody>
                    <a:bodyPr/>
                    <a:lstStyle/>
                    <a:p>
                      <a:pPr algn="ctr"/>
                      <a:r>
                        <a:rPr sz="950">
                          <a:solidFill>
                            <a:srgbClr val="0D0033"/>
                          </a:solidFill>
                          <a:latin typeface="Calibri"/>
                        </a:rPr>
                        <a:t>31,5</a:t>
                      </a:r>
                    </a:p>
                  </a:txBody>
                  <a:tcPr>
                    <a:solidFill>
                      <a:srgbClr val="FFFFFF"/>
                    </a:solidFill>
                  </a:tcPr>
                </a:tc>
                <a:tc>
                  <a:txBody>
                    <a:bodyPr/>
                    <a:lstStyle/>
                    <a:p>
                      <a:pPr algn="ctr"/>
                      <a:r>
                        <a:rPr sz="950">
                          <a:solidFill>
                            <a:srgbClr val="0D0033"/>
                          </a:solidFill>
                          <a:latin typeface="Calibri"/>
                        </a:rPr>
                        <a:t>50,5</a:t>
                      </a:r>
                    </a:p>
                  </a:txBody>
                  <a:tcPr>
                    <a:solidFill>
                      <a:srgbClr val="FFFFFF"/>
                    </a:solidFill>
                  </a:tcPr>
                </a:tc>
              </a:tr>
            </a:tbl>
          </a:graphicData>
        </a:graphic>
      </p:graphicFrame>
      <p:sp>
        <p:nvSpPr>
          <p:cNvPr id="83" name="TextBox 82"/>
          <p:cNvSpPr txBox="1"/>
          <p:nvPr/>
        </p:nvSpPr>
        <p:spPr>
          <a:xfrm>
            <a:off x="9948672" y="20400264"/>
            <a:ext cx="9079992" cy="320040"/>
          </a:xfrm>
          <a:prstGeom prst="rect">
            <a:avLst/>
          </a:prstGeom>
          <a:noFill/>
        </p:spPr>
        <p:txBody>
          <a:bodyPr wrap="square">
            <a:spAutoFit/>
          </a:bodyPr>
          <a:lstStyle/>
          <a:p>
            <a:pPr algn="l"/>
            <a:r>
              <a:rPr sz="900" b="0" i="1">
                <a:solidFill>
                  <a:srgbClr val="424242"/>
                </a:solidFill>
                <a:latin typeface="Calibri"/>
              </a:rPr>
              <a:t>* Số liệu trình bày là minh họa — kết quả chính thức sau khi hoàn thành training trên Colab/VPS.</a:t>
            </a:r>
          </a:p>
        </p:txBody>
      </p:sp>
      <p:sp>
        <p:nvSpPr>
          <p:cNvPr id="84" name="Rectangle 83"/>
          <p:cNvSpPr/>
          <p:nvPr/>
        </p:nvSpPr>
        <p:spPr>
          <a:xfrm>
            <a:off x="9948672" y="20766024"/>
            <a:ext cx="4494276" cy="2926080"/>
          </a:xfrm>
          <a:prstGeom prst="rect">
            <a:avLst/>
          </a:prstGeom>
          <a:solidFill>
            <a:srgbClr val="DCE6F0"/>
          </a:solidFill>
          <a:ln w="12700">
            <a:solidFill>
              <a:srgbClr val="648C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948672" y="21909024"/>
            <a:ext cx="4494276" cy="411480"/>
          </a:xfrm>
          <a:prstGeom prst="rect">
            <a:avLst/>
          </a:prstGeom>
          <a:noFill/>
        </p:spPr>
        <p:txBody>
          <a:bodyPr wrap="square">
            <a:spAutoFit/>
          </a:bodyPr>
          <a:lstStyle/>
          <a:p>
            <a:pPr algn="ctr"/>
            <a:r>
              <a:rPr sz="1300" b="1" i="0">
                <a:solidFill>
                  <a:srgbClr val="325A8C"/>
                </a:solidFill>
                <a:latin typeface="Calibri"/>
              </a:rPr>
              <a:t>[BIỂU ĐỒ 1]</a:t>
            </a:r>
          </a:p>
        </p:txBody>
      </p:sp>
      <p:sp>
        <p:nvSpPr>
          <p:cNvPr id="86" name="TextBox 85"/>
          <p:cNvSpPr txBox="1"/>
          <p:nvPr/>
        </p:nvSpPr>
        <p:spPr>
          <a:xfrm>
            <a:off x="9948672" y="22320504"/>
            <a:ext cx="4494276" cy="365760"/>
          </a:xfrm>
          <a:prstGeom prst="rect">
            <a:avLst/>
          </a:prstGeom>
          <a:noFill/>
        </p:spPr>
        <p:txBody>
          <a:bodyPr wrap="square">
            <a:spAutoFit/>
          </a:bodyPr>
          <a:lstStyle/>
          <a:p>
            <a:pPr algn="ctr"/>
            <a:r>
              <a:rPr sz="1000" b="0" i="1">
                <a:solidFill>
                  <a:srgbClr val="506E96"/>
                </a:solidFill>
                <a:latin typeface="Calibri"/>
              </a:rPr>
              <a:t>Training/Validation Loss
qua các Epoch</a:t>
            </a:r>
          </a:p>
        </p:txBody>
      </p:sp>
      <p:sp>
        <p:nvSpPr>
          <p:cNvPr id="87" name="Rectangle 86"/>
          <p:cNvSpPr/>
          <p:nvPr/>
        </p:nvSpPr>
        <p:spPr>
          <a:xfrm>
            <a:off x="14534388" y="20766024"/>
            <a:ext cx="4494276" cy="2926080"/>
          </a:xfrm>
          <a:prstGeom prst="rect">
            <a:avLst/>
          </a:prstGeom>
          <a:solidFill>
            <a:srgbClr val="DCE6F0"/>
          </a:solidFill>
          <a:ln w="12700">
            <a:solidFill>
              <a:srgbClr val="648C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4534388" y="21909024"/>
            <a:ext cx="4494276" cy="411480"/>
          </a:xfrm>
          <a:prstGeom prst="rect">
            <a:avLst/>
          </a:prstGeom>
          <a:noFill/>
        </p:spPr>
        <p:txBody>
          <a:bodyPr wrap="square">
            <a:spAutoFit/>
          </a:bodyPr>
          <a:lstStyle/>
          <a:p>
            <a:pPr algn="ctr"/>
            <a:r>
              <a:rPr sz="1300" b="1" i="0">
                <a:solidFill>
                  <a:srgbClr val="325A8C"/>
                </a:solidFill>
                <a:latin typeface="Calibri"/>
              </a:rPr>
              <a:t>[BIỂU ĐỒ 2]</a:t>
            </a:r>
          </a:p>
        </p:txBody>
      </p:sp>
      <p:sp>
        <p:nvSpPr>
          <p:cNvPr id="89" name="TextBox 88"/>
          <p:cNvSpPr txBox="1"/>
          <p:nvPr/>
        </p:nvSpPr>
        <p:spPr>
          <a:xfrm>
            <a:off x="14534388" y="22320504"/>
            <a:ext cx="4494276" cy="365760"/>
          </a:xfrm>
          <a:prstGeom prst="rect">
            <a:avLst/>
          </a:prstGeom>
          <a:noFill/>
        </p:spPr>
        <p:txBody>
          <a:bodyPr wrap="square">
            <a:spAutoFit/>
          </a:bodyPr>
          <a:lstStyle/>
          <a:p>
            <a:pPr algn="ctr"/>
            <a:r>
              <a:rPr sz="1000" b="0" i="1">
                <a:solidFill>
                  <a:srgbClr val="506E96"/>
                </a:solidFill>
                <a:latin typeface="Calibri"/>
              </a:rPr>
              <a:t>NSE phân phối
16 hồ chứa (Boxplot)</a:t>
            </a:r>
          </a:p>
        </p:txBody>
      </p:sp>
      <p:sp>
        <p:nvSpPr>
          <p:cNvPr id="90" name="TextBox 89"/>
          <p:cNvSpPr txBox="1"/>
          <p:nvPr/>
        </p:nvSpPr>
        <p:spPr>
          <a:xfrm>
            <a:off x="9948672" y="23710392"/>
            <a:ext cx="9079992" cy="365760"/>
          </a:xfrm>
          <a:prstGeom prst="rect">
            <a:avLst/>
          </a:prstGeom>
          <a:noFill/>
        </p:spPr>
        <p:txBody>
          <a:bodyPr wrap="square">
            <a:spAutoFit/>
          </a:bodyPr>
          <a:lstStyle/>
          <a:p>
            <a:pPr algn="ctr"/>
            <a:r>
              <a:rPr sz="1000" b="0" i="1">
                <a:solidFill>
                  <a:srgbClr val="424242"/>
                </a:solidFill>
                <a:latin typeface="Calibri"/>
              </a:rPr>
              <a:t>Hình 2. (a) Đường cong loss training/validation; (b) Phân phối NSE theo hồ chứa.</a:t>
            </a:r>
          </a:p>
        </p:txBody>
      </p:sp>
      <p:sp>
        <p:nvSpPr>
          <p:cNvPr id="91" name="Rectangle 90"/>
          <p:cNvSpPr/>
          <p:nvPr/>
        </p:nvSpPr>
        <p:spPr>
          <a:xfrm>
            <a:off x="9857232" y="26938224"/>
            <a:ext cx="9262872"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857232" y="26938224"/>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857232" y="26938224"/>
            <a:ext cx="640080" cy="502920"/>
          </a:xfrm>
          <a:prstGeom prst="rect">
            <a:avLst/>
          </a:prstGeom>
          <a:noFill/>
        </p:spPr>
        <p:txBody>
          <a:bodyPr wrap="square">
            <a:spAutoFit/>
          </a:bodyPr>
          <a:lstStyle/>
          <a:p>
            <a:pPr algn="ctr"/>
            <a:r>
              <a:rPr sz="1800" b="1" i="0">
                <a:solidFill>
                  <a:srgbClr val="FFB300"/>
                </a:solidFill>
                <a:latin typeface="Calibri"/>
              </a:rPr>
              <a:t>07</a:t>
            </a:r>
          </a:p>
        </p:txBody>
      </p:sp>
      <p:sp>
        <p:nvSpPr>
          <p:cNvPr id="94" name="TextBox 93"/>
          <p:cNvSpPr txBox="1"/>
          <p:nvPr/>
        </p:nvSpPr>
        <p:spPr>
          <a:xfrm>
            <a:off x="10588752" y="26938224"/>
            <a:ext cx="8531352" cy="502920"/>
          </a:xfrm>
          <a:prstGeom prst="rect">
            <a:avLst/>
          </a:prstGeom>
          <a:noFill/>
        </p:spPr>
        <p:txBody>
          <a:bodyPr wrap="square">
            <a:spAutoFit/>
          </a:bodyPr>
          <a:lstStyle/>
          <a:p>
            <a:pPr algn="l"/>
            <a:r>
              <a:rPr sz="1500" b="1" i="0">
                <a:solidFill>
                  <a:srgbClr val="FFFFFF"/>
                </a:solidFill>
                <a:latin typeface="Calibri"/>
              </a:rPr>
              <a:t>PHÂN TÍCH TRẬN LŨ 10/2025</a:t>
            </a:r>
          </a:p>
        </p:txBody>
      </p:sp>
      <p:sp>
        <p:nvSpPr>
          <p:cNvPr id="95" name="Rectangle 94"/>
          <p:cNvSpPr/>
          <p:nvPr/>
        </p:nvSpPr>
        <p:spPr>
          <a:xfrm>
            <a:off x="9857232" y="27468576"/>
            <a:ext cx="9262872" cy="5413248"/>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948672" y="27560016"/>
            <a:ext cx="9079992" cy="3474720"/>
          </a:xfrm>
          <a:prstGeom prst="rect">
            <a:avLst/>
          </a:prstGeom>
          <a:solidFill>
            <a:srgbClr val="DCE6F0"/>
          </a:solidFill>
          <a:ln w="12700">
            <a:solidFill>
              <a:srgbClr val="648C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948672" y="28977336"/>
            <a:ext cx="9079992" cy="411480"/>
          </a:xfrm>
          <a:prstGeom prst="rect">
            <a:avLst/>
          </a:prstGeom>
          <a:noFill/>
        </p:spPr>
        <p:txBody>
          <a:bodyPr wrap="square">
            <a:spAutoFit/>
          </a:bodyPr>
          <a:lstStyle/>
          <a:p>
            <a:pPr algn="ctr"/>
            <a:r>
              <a:rPr sz="1300" b="1" i="0">
                <a:solidFill>
                  <a:srgbClr val="325A8C"/>
                </a:solidFill>
                <a:latin typeface="Calibri"/>
              </a:rPr>
              <a:t>[BIỂU ĐỒ 3]</a:t>
            </a:r>
          </a:p>
        </p:txBody>
      </p:sp>
      <p:sp>
        <p:nvSpPr>
          <p:cNvPr id="98" name="TextBox 97"/>
          <p:cNvSpPr txBox="1"/>
          <p:nvPr/>
        </p:nvSpPr>
        <p:spPr>
          <a:xfrm>
            <a:off x="9948672" y="29388816"/>
            <a:ext cx="9079992" cy="365760"/>
          </a:xfrm>
          <a:prstGeom prst="rect">
            <a:avLst/>
          </a:prstGeom>
          <a:noFill/>
        </p:spPr>
        <p:txBody>
          <a:bodyPr wrap="square">
            <a:spAutoFit/>
          </a:bodyPr>
          <a:lstStyle/>
          <a:p>
            <a:pPr algn="ctr"/>
            <a:r>
              <a:rPr sz="1000" b="0" i="1">
                <a:solidFill>
                  <a:srgbClr val="506E96"/>
                </a:solidFill>
                <a:latin typeface="Calibri"/>
              </a:rPr>
              <a:t>Dự báo P10/P50/P90 vs. Q quan trắc
Trận lũ tháng 10/2025 – Hồ Sông Tranh 2</a:t>
            </a:r>
          </a:p>
        </p:txBody>
      </p:sp>
      <p:sp>
        <p:nvSpPr>
          <p:cNvPr id="99" name="TextBox 98"/>
          <p:cNvSpPr txBox="1"/>
          <p:nvPr/>
        </p:nvSpPr>
        <p:spPr>
          <a:xfrm>
            <a:off x="9948672" y="31053024"/>
            <a:ext cx="9079992" cy="1691640"/>
          </a:xfrm>
          <a:prstGeom prst="rect">
            <a:avLst/>
          </a:prstGeom>
          <a:noFill/>
        </p:spPr>
        <p:txBody>
          <a:bodyPr wrap="square">
            <a:spAutoFit/>
          </a:bodyPr>
          <a:lstStyle/>
          <a:p>
            <a:pPr algn="l"/>
            <a:r>
              <a:rPr sz="1100" b="0" i="0">
                <a:solidFill>
                  <a:srgbClr val="0D0033"/>
                </a:solidFill>
                <a:latin typeface="Calibri"/>
              </a:rPr>
              <a:t>Trận lũ tháng 10/2025 tại hồ Sông Tranh 2 được lựa chọn để kiểm chứng mô hình do có đỉnh lũ lớn (Q_max ≈ 2.800 m³/s). Kết quả cho thấy:
• P50 bắt đúng thời điểm đỉnh lũ, sai số biên độ &lt; 12%
• Dải P10–P90 bao phủ Q quan trắc trong ≥ 88% số giờ forecast
• Dự báo 24h trước đỉnh vẫn duy trì NSE &gt; 0,82
• Winkler Score (90% PI) phản ánh dải tin cậy hợp lý, không quá rộng</a:t>
            </a:r>
          </a:p>
        </p:txBody>
      </p:sp>
      <p:sp>
        <p:nvSpPr>
          <p:cNvPr id="100" name="Rectangle 99"/>
          <p:cNvSpPr/>
          <p:nvPr/>
        </p:nvSpPr>
        <p:spPr>
          <a:xfrm>
            <a:off x="9857232" y="33018984"/>
            <a:ext cx="9262872"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857232" y="33018984"/>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857232" y="33018984"/>
            <a:ext cx="640080" cy="502920"/>
          </a:xfrm>
          <a:prstGeom prst="rect">
            <a:avLst/>
          </a:prstGeom>
          <a:noFill/>
        </p:spPr>
        <p:txBody>
          <a:bodyPr wrap="square">
            <a:spAutoFit/>
          </a:bodyPr>
          <a:lstStyle/>
          <a:p>
            <a:pPr algn="ctr"/>
            <a:r>
              <a:rPr sz="1800" b="1" i="0">
                <a:solidFill>
                  <a:srgbClr val="FFB300"/>
                </a:solidFill>
                <a:latin typeface="Calibri"/>
              </a:rPr>
              <a:t>08</a:t>
            </a:r>
          </a:p>
        </p:txBody>
      </p:sp>
      <p:sp>
        <p:nvSpPr>
          <p:cNvPr id="103" name="TextBox 102"/>
          <p:cNvSpPr txBox="1"/>
          <p:nvPr/>
        </p:nvSpPr>
        <p:spPr>
          <a:xfrm>
            <a:off x="10588752" y="33018984"/>
            <a:ext cx="8531352" cy="502920"/>
          </a:xfrm>
          <a:prstGeom prst="rect">
            <a:avLst/>
          </a:prstGeom>
          <a:noFill/>
        </p:spPr>
        <p:txBody>
          <a:bodyPr wrap="square">
            <a:spAutoFit/>
          </a:bodyPr>
          <a:lstStyle/>
          <a:p>
            <a:pPr algn="l"/>
            <a:r>
              <a:rPr sz="1500" b="1" i="0">
                <a:solidFill>
                  <a:srgbClr val="FFFFFF"/>
                </a:solidFill>
                <a:latin typeface="Calibri"/>
              </a:rPr>
              <a:t>TIẾN BỘ v1 → FloodLSTM v2</a:t>
            </a:r>
          </a:p>
        </p:txBody>
      </p:sp>
      <p:sp>
        <p:nvSpPr>
          <p:cNvPr id="104" name="Rectangle 103"/>
          <p:cNvSpPr/>
          <p:nvPr/>
        </p:nvSpPr>
        <p:spPr>
          <a:xfrm>
            <a:off x="9857232" y="33549336"/>
            <a:ext cx="9262872" cy="4956048"/>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5" name="Table 104"/>
          <p:cNvGraphicFramePr>
            <a:graphicFrameLocks noGrp="1"/>
          </p:cNvGraphicFramePr>
          <p:nvPr/>
        </p:nvGraphicFramePr>
        <p:xfrm>
          <a:off x="9948672" y="33613344"/>
          <a:ext cx="9079992" cy="4480560"/>
        </p:xfrm>
        <a:graphic>
          <a:graphicData uri="http://schemas.openxmlformats.org/drawingml/2006/table">
            <a:tbl>
              <a:tblPr firstRow="1" bandRow="1">
                <a:tableStyleId>{5C22544A-7EE6-4342-B048-85BDC9FD1C3A}</a:tableStyleId>
              </a:tblPr>
              <a:tblGrid>
                <a:gridCol w="3026664"/>
                <a:gridCol w="3026664"/>
                <a:gridCol w="3026664"/>
              </a:tblGrid>
              <a:tr h="373380">
                <a:tc>
                  <a:txBody>
                    <a:bodyPr/>
                    <a:lstStyle/>
                    <a:p>
                      <a:pPr algn="ctr"/>
                      <a:r>
                        <a:rPr sz="950" b="1">
                          <a:solidFill>
                            <a:srgbClr val="FFFFFF"/>
                          </a:solidFill>
                          <a:latin typeface="Calibri"/>
                        </a:rPr>
                        <a:t>Tiêu chí</a:t>
                      </a:r>
                    </a:p>
                  </a:txBody>
                  <a:tcPr>
                    <a:solidFill>
                      <a:srgbClr val="006994"/>
                    </a:solidFill>
                  </a:tcPr>
                </a:tc>
                <a:tc>
                  <a:txBody>
                    <a:bodyPr/>
                    <a:lstStyle/>
                    <a:p>
                      <a:pPr algn="ctr"/>
                      <a:r>
                        <a:rPr sz="950" b="1">
                          <a:solidFill>
                            <a:srgbClr val="FFFFFF"/>
                          </a:solidFill>
                          <a:latin typeface="Calibri"/>
                        </a:rPr>
                        <a:t>v1 (Global LSTM)</a:t>
                      </a:r>
                    </a:p>
                  </a:txBody>
                  <a:tcPr>
                    <a:solidFill>
                      <a:srgbClr val="006994"/>
                    </a:solidFill>
                  </a:tcPr>
                </a:tc>
                <a:tc>
                  <a:txBody>
                    <a:bodyPr/>
                    <a:lstStyle/>
                    <a:p>
                      <a:pPr algn="ctr"/>
                      <a:r>
                        <a:rPr sz="950" b="1">
                          <a:solidFill>
                            <a:srgbClr val="FFFFFF"/>
                          </a:solidFill>
                          <a:latin typeface="Calibri"/>
                        </a:rPr>
                        <a:t>v2 (FloodLSTM v2)</a:t>
                      </a:r>
                    </a:p>
                  </a:txBody>
                  <a:tcPr>
                    <a:solidFill>
                      <a:srgbClr val="006994"/>
                    </a:solidFill>
                  </a:tcPr>
                </a:tc>
              </a:tr>
              <a:tr h="373380">
                <a:tc>
                  <a:txBody>
                    <a:bodyPr/>
                    <a:lstStyle/>
                    <a:p>
                      <a:pPr algn="l"/>
                      <a:r>
                        <a:rPr sz="950">
                          <a:solidFill>
                            <a:srgbClr val="0D0033"/>
                          </a:solidFill>
                          <a:latin typeface="Calibri"/>
                        </a:rPr>
                        <a:t>Hindcast length</a:t>
                      </a:r>
                    </a:p>
                  </a:txBody>
                  <a:tcPr>
                    <a:solidFill>
                      <a:srgbClr val="FFFFFF"/>
                    </a:solidFill>
                  </a:tcPr>
                </a:tc>
                <a:tc>
                  <a:txBody>
                    <a:bodyPr/>
                    <a:lstStyle/>
                    <a:p>
                      <a:pPr algn="ctr"/>
                      <a:r>
                        <a:rPr sz="950">
                          <a:solidFill>
                            <a:srgbClr val="0D0033"/>
                          </a:solidFill>
                          <a:latin typeface="Calibri"/>
                        </a:rPr>
                        <a:t>240h (10 ngày)</a:t>
                      </a:r>
                    </a:p>
                  </a:txBody>
                  <a:tcPr>
                    <a:solidFill>
                      <a:srgbClr val="FFFFFF"/>
                    </a:solidFill>
                  </a:tcPr>
                </a:tc>
                <a:tc>
                  <a:txBody>
                    <a:bodyPr/>
                    <a:lstStyle/>
                    <a:p>
                      <a:pPr algn="ctr"/>
                      <a:r>
                        <a:rPr sz="950">
                          <a:solidFill>
                            <a:srgbClr val="0D0033"/>
                          </a:solidFill>
                          <a:latin typeface="Calibri"/>
                        </a:rPr>
                        <a:t>720h (30 ngày)</a:t>
                      </a:r>
                    </a:p>
                  </a:txBody>
                  <a:tcPr>
                    <a:solidFill>
                      <a:srgbClr val="FFFFFF"/>
                    </a:solidFill>
                  </a:tcPr>
                </a:tc>
              </a:tr>
              <a:tr h="373380">
                <a:tc>
                  <a:txBody>
                    <a:bodyPr/>
                    <a:lstStyle/>
                    <a:p>
                      <a:pPr algn="l"/>
                      <a:r>
                        <a:rPr sz="950">
                          <a:solidFill>
                            <a:srgbClr val="0D0033"/>
                          </a:solidFill>
                          <a:latin typeface="Calibri"/>
                        </a:rPr>
                        <a:t>Forecast horizon</a:t>
                      </a:r>
                    </a:p>
                  </a:txBody>
                  <a:tcPr>
                    <a:solidFill>
                      <a:srgbClr val="F0F4F8"/>
                    </a:solidFill>
                  </a:tcPr>
                </a:tc>
                <a:tc>
                  <a:txBody>
                    <a:bodyPr/>
                    <a:lstStyle/>
                    <a:p>
                      <a:pPr algn="ctr"/>
                      <a:r>
                        <a:rPr sz="950">
                          <a:solidFill>
                            <a:srgbClr val="0D0033"/>
                          </a:solidFill>
                          <a:latin typeface="Calibri"/>
                        </a:rPr>
                        <a:t>24h (1 ngày)</a:t>
                      </a:r>
                    </a:p>
                  </a:txBody>
                  <a:tcPr>
                    <a:solidFill>
                      <a:srgbClr val="F0F4F8"/>
                    </a:solidFill>
                  </a:tcPr>
                </a:tc>
                <a:tc>
                  <a:txBody>
                    <a:bodyPr/>
                    <a:lstStyle/>
                    <a:p>
                      <a:pPr algn="ctr"/>
                      <a:r>
                        <a:rPr sz="950">
                          <a:solidFill>
                            <a:srgbClr val="0D0033"/>
                          </a:solidFill>
                          <a:latin typeface="Calibri"/>
                        </a:rPr>
                        <a:t>168h (7 ngày)</a:t>
                      </a:r>
                    </a:p>
                  </a:txBody>
                  <a:tcPr>
                    <a:solidFill>
                      <a:srgbClr val="F0F4F8"/>
                    </a:solidFill>
                  </a:tcPr>
                </a:tc>
              </a:tr>
              <a:tr h="373380">
                <a:tc>
                  <a:txBody>
                    <a:bodyPr/>
                    <a:lstStyle/>
                    <a:p>
                      <a:pPr algn="l"/>
                      <a:r>
                        <a:rPr sz="950">
                          <a:solidFill>
                            <a:srgbClr val="0D0033"/>
                          </a:solidFill>
                          <a:latin typeface="Calibri"/>
                        </a:rPr>
                        <a:t>Quantiles</a:t>
                      </a:r>
                    </a:p>
                  </a:txBody>
                  <a:tcPr>
                    <a:solidFill>
                      <a:srgbClr val="FFFFFF"/>
                    </a:solidFill>
                  </a:tcPr>
                </a:tc>
                <a:tc>
                  <a:txBody>
                    <a:bodyPr/>
                    <a:lstStyle/>
                    <a:p>
                      <a:pPr algn="ctr"/>
                      <a:r>
                        <a:rPr sz="950">
                          <a:solidFill>
                            <a:srgbClr val="0D0033"/>
                          </a:solidFill>
                          <a:latin typeface="Calibri"/>
                        </a:rPr>
                        <a:t>3 (P10/P50/P90)</a:t>
                      </a:r>
                    </a:p>
                  </a:txBody>
                  <a:tcPr>
                    <a:solidFill>
                      <a:srgbClr val="FFFFFF"/>
                    </a:solidFill>
                  </a:tcPr>
                </a:tc>
                <a:tc>
                  <a:txBody>
                    <a:bodyPr/>
                    <a:lstStyle/>
                    <a:p>
                      <a:pPr algn="ctr"/>
                      <a:r>
                        <a:rPr sz="950">
                          <a:solidFill>
                            <a:srgbClr val="0D0033"/>
                          </a:solidFill>
                          <a:latin typeface="Calibri"/>
                        </a:rPr>
                        <a:t>7 (P5→P95)</a:t>
                      </a:r>
                    </a:p>
                  </a:txBody>
                  <a:tcPr>
                    <a:solidFill>
                      <a:srgbClr val="FFFFFF"/>
                    </a:solidFill>
                  </a:tcPr>
                </a:tc>
              </a:tr>
              <a:tr h="373380">
                <a:tc>
                  <a:txBody>
                    <a:bodyPr/>
                    <a:lstStyle/>
                    <a:p>
                      <a:pPr algn="l"/>
                      <a:r>
                        <a:rPr sz="950">
                          <a:solidFill>
                            <a:srgbClr val="0D0033"/>
                          </a:solidFill>
                          <a:latin typeface="Calibri"/>
                        </a:rPr>
                        <a:t>Hidden size</a:t>
                      </a:r>
                    </a:p>
                  </a:txBody>
                  <a:tcPr>
                    <a:solidFill>
                      <a:srgbClr val="F0F4F8"/>
                    </a:solidFill>
                  </a:tcPr>
                </a:tc>
                <a:tc>
                  <a:txBody>
                    <a:bodyPr/>
                    <a:lstStyle/>
                    <a:p>
                      <a:pPr algn="ctr"/>
                      <a:r>
                        <a:rPr sz="950">
                          <a:solidFill>
                            <a:srgbClr val="0D0033"/>
                          </a:solidFill>
                          <a:latin typeface="Calibri"/>
                        </a:rPr>
                        <a:t>128 units</a:t>
                      </a:r>
                    </a:p>
                  </a:txBody>
                  <a:tcPr>
                    <a:solidFill>
                      <a:srgbClr val="F0F4F8"/>
                    </a:solidFill>
                  </a:tcPr>
                </a:tc>
                <a:tc>
                  <a:txBody>
                    <a:bodyPr/>
                    <a:lstStyle/>
                    <a:p>
                      <a:pPr algn="ctr"/>
                      <a:r>
                        <a:rPr sz="950">
                          <a:solidFill>
                            <a:srgbClr val="0D0033"/>
                          </a:solidFill>
                          <a:latin typeface="Calibri"/>
                        </a:rPr>
                        <a:t>256 units</a:t>
                      </a:r>
                    </a:p>
                  </a:txBody>
                  <a:tcPr>
                    <a:solidFill>
                      <a:srgbClr val="F0F4F8"/>
                    </a:solidFill>
                  </a:tcPr>
                </a:tc>
              </a:tr>
              <a:tr h="373380">
                <a:tc>
                  <a:txBody>
                    <a:bodyPr/>
                    <a:lstStyle/>
                    <a:p>
                      <a:pPr algn="l"/>
                      <a:r>
                        <a:rPr sz="950">
                          <a:solidFill>
                            <a:srgbClr val="0D0033"/>
                          </a:solidFill>
                          <a:latin typeface="Calibri"/>
                        </a:rPr>
                        <a:t>Encoder</a:t>
                      </a:r>
                    </a:p>
                  </a:txBody>
                  <a:tcPr>
                    <a:solidFill>
                      <a:srgbClr val="FFFFFF"/>
                    </a:solidFill>
                  </a:tcPr>
                </a:tc>
                <a:tc>
                  <a:txBody>
                    <a:bodyPr/>
                    <a:lstStyle/>
                    <a:p>
                      <a:pPr algn="ctr"/>
                      <a:r>
                        <a:rPr sz="950">
                          <a:solidFill>
                            <a:srgbClr val="0D0033"/>
                          </a:solidFill>
                          <a:latin typeface="Calibri"/>
                        </a:rPr>
                        <a:t>LSTM (1 chiều)</a:t>
                      </a:r>
                    </a:p>
                  </a:txBody>
                  <a:tcPr>
                    <a:solidFill>
                      <a:srgbClr val="FFFFFF"/>
                    </a:solidFill>
                  </a:tcPr>
                </a:tc>
                <a:tc>
                  <a:txBody>
                    <a:bodyPr/>
                    <a:lstStyle/>
                    <a:p>
                      <a:pPr algn="ctr"/>
                      <a:r>
                        <a:rPr sz="950">
                          <a:solidFill>
                            <a:srgbClr val="0D0033"/>
                          </a:solidFill>
                          <a:latin typeface="Calibri"/>
                        </a:rPr>
                        <a:t>Bi-LSTM (2 chiều)</a:t>
                      </a:r>
                    </a:p>
                  </a:txBody>
                  <a:tcPr>
                    <a:solidFill>
                      <a:srgbClr val="FFFFFF"/>
                    </a:solidFill>
                  </a:tcPr>
                </a:tc>
              </a:tr>
              <a:tr h="373380">
                <a:tc>
                  <a:txBody>
                    <a:bodyPr/>
                    <a:lstStyle/>
                    <a:p>
                      <a:pPr algn="l"/>
                      <a:r>
                        <a:rPr sz="950">
                          <a:solidFill>
                            <a:srgbClr val="0D0033"/>
                          </a:solidFill>
                          <a:latin typeface="Calibri"/>
                        </a:rPr>
                        <a:t>Attention</a:t>
                      </a:r>
                    </a:p>
                  </a:txBody>
                  <a:tcPr>
                    <a:solidFill>
                      <a:srgbClr val="F0F4F8"/>
                    </a:solidFill>
                  </a:tcPr>
                </a:tc>
                <a:tc>
                  <a:txBody>
                    <a:bodyPr/>
                    <a:lstStyle/>
                    <a:p>
                      <a:pPr algn="ctr"/>
                      <a:r>
                        <a:rPr sz="950">
                          <a:solidFill>
                            <a:srgbClr val="0D0033"/>
                          </a:solidFill>
                          <a:latin typeface="Calibri"/>
                        </a:rPr>
                        <a:t>Không có</a:t>
                      </a:r>
                    </a:p>
                  </a:txBody>
                  <a:tcPr>
                    <a:solidFill>
                      <a:srgbClr val="F0F4F8"/>
                    </a:solidFill>
                  </a:tcPr>
                </a:tc>
                <a:tc>
                  <a:txBody>
                    <a:bodyPr/>
                    <a:lstStyle/>
                    <a:p>
                      <a:pPr algn="ctr"/>
                      <a:r>
                        <a:rPr sz="950">
                          <a:solidFill>
                            <a:srgbClr val="0D0033"/>
                          </a:solidFill>
                          <a:latin typeface="Calibri"/>
                        </a:rPr>
                        <a:t>Cross-Attention 4 heads</a:t>
                      </a:r>
                    </a:p>
                  </a:txBody>
                  <a:tcPr>
                    <a:solidFill>
                      <a:srgbClr val="F0F4F8"/>
                    </a:solidFill>
                  </a:tcPr>
                </a:tc>
              </a:tr>
              <a:tr h="373380">
                <a:tc>
                  <a:txBody>
                    <a:bodyPr/>
                    <a:lstStyle/>
                    <a:p>
                      <a:pPr algn="l"/>
                      <a:r>
                        <a:rPr sz="950">
                          <a:solidFill>
                            <a:srgbClr val="0D0033"/>
                          </a:solidFill>
                          <a:latin typeface="Calibri"/>
                        </a:rPr>
                        <a:t>NWP fusion</a:t>
                      </a:r>
                    </a:p>
                  </a:txBody>
                  <a:tcPr>
                    <a:solidFill>
                      <a:srgbClr val="FFFFFF"/>
                    </a:solidFill>
                  </a:tcPr>
                </a:tc>
                <a:tc>
                  <a:txBody>
                    <a:bodyPr/>
                    <a:lstStyle/>
                    <a:p>
                      <a:pPr algn="ctr"/>
                      <a:r>
                        <a:rPr sz="950">
                          <a:solidFill>
                            <a:srgbClr val="0D0033"/>
                          </a:solidFill>
                          <a:latin typeface="Calibri"/>
                        </a:rPr>
                        <a:t>Không có</a:t>
                      </a:r>
                    </a:p>
                  </a:txBody>
                  <a:tcPr>
                    <a:solidFill>
                      <a:srgbClr val="FFFFFF"/>
                    </a:solidFill>
                  </a:tcPr>
                </a:tc>
                <a:tc>
                  <a:txBody>
                    <a:bodyPr/>
                    <a:lstStyle/>
                    <a:p>
                      <a:pPr algn="ctr"/>
                      <a:r>
                        <a:rPr sz="950">
                          <a:solidFill>
                            <a:srgbClr val="0D0033"/>
                          </a:solidFill>
                          <a:latin typeface="Calibri"/>
                        </a:rPr>
                        <a:t>Multi-source fusion layer</a:t>
                      </a:r>
                    </a:p>
                  </a:txBody>
                  <a:tcPr>
                    <a:solidFill>
                      <a:srgbClr val="FFFFFF"/>
                    </a:solidFill>
                  </a:tcPr>
                </a:tc>
              </a:tr>
              <a:tr h="373380">
                <a:tc>
                  <a:txBody>
                    <a:bodyPr/>
                    <a:lstStyle/>
                    <a:p>
                      <a:pPr algn="l"/>
                      <a:r>
                        <a:rPr sz="950">
                          <a:solidFill>
                            <a:srgbClr val="0D0033"/>
                          </a:solidFill>
                          <a:latin typeface="Calibri"/>
                        </a:rPr>
                        <a:t>Teacher forcing</a:t>
                      </a:r>
                    </a:p>
                  </a:txBody>
                  <a:tcPr>
                    <a:solidFill>
                      <a:srgbClr val="F0F4F8"/>
                    </a:solidFill>
                  </a:tcPr>
                </a:tc>
                <a:tc>
                  <a:txBody>
                    <a:bodyPr/>
                    <a:lstStyle/>
                    <a:p>
                      <a:pPr algn="ctr"/>
                      <a:r>
                        <a:rPr sz="950">
                          <a:solidFill>
                            <a:srgbClr val="0D0033"/>
                          </a:solidFill>
                          <a:latin typeface="Calibri"/>
                        </a:rPr>
                        <a:t>Không có</a:t>
                      </a:r>
                    </a:p>
                  </a:txBody>
                  <a:tcPr>
                    <a:solidFill>
                      <a:srgbClr val="F0F4F8"/>
                    </a:solidFill>
                  </a:tcPr>
                </a:tc>
                <a:tc>
                  <a:txBody>
                    <a:bodyPr/>
                    <a:lstStyle/>
                    <a:p>
                      <a:pPr algn="ctr"/>
                      <a:r>
                        <a:rPr sz="950">
                          <a:solidFill>
                            <a:srgbClr val="0D0033"/>
                          </a:solidFill>
                          <a:latin typeface="Calibri"/>
                        </a:rPr>
                        <a:t>Annealing 0,8 → 0,0</a:t>
                      </a:r>
                    </a:p>
                  </a:txBody>
                  <a:tcPr>
                    <a:solidFill>
                      <a:srgbClr val="F0F4F8"/>
                    </a:solidFill>
                  </a:tcPr>
                </a:tc>
              </a:tr>
              <a:tr h="373380">
                <a:tc>
                  <a:txBody>
                    <a:bodyPr/>
                    <a:lstStyle/>
                    <a:p>
                      <a:pPr algn="l"/>
                      <a:r>
                        <a:rPr sz="950">
                          <a:solidFill>
                            <a:srgbClr val="0D0033"/>
                          </a:solidFill>
                          <a:latin typeface="Calibri"/>
                        </a:rPr>
                        <a:t>Uncertainty scale</a:t>
                      </a:r>
                    </a:p>
                  </a:txBody>
                  <a:tcPr>
                    <a:solidFill>
                      <a:srgbClr val="FFFFFF"/>
                    </a:solidFill>
                  </a:tcPr>
                </a:tc>
                <a:tc>
                  <a:txBody>
                    <a:bodyPr/>
                    <a:lstStyle/>
                    <a:p>
                      <a:pPr algn="ctr"/>
                      <a:r>
                        <a:rPr sz="950">
                          <a:solidFill>
                            <a:srgbClr val="0D0033"/>
                          </a:solidFill>
                          <a:latin typeface="Calibri"/>
                        </a:rPr>
                        <a:t>Cố định</a:t>
                      </a:r>
                    </a:p>
                  </a:txBody>
                  <a:tcPr>
                    <a:solidFill>
                      <a:srgbClr val="FFFFFF"/>
                    </a:solidFill>
                  </a:tcPr>
                </a:tc>
                <a:tc>
                  <a:txBody>
                    <a:bodyPr/>
                    <a:lstStyle/>
                    <a:p>
                      <a:pPr algn="ctr"/>
                      <a:r>
                        <a:rPr sz="950">
                          <a:solidFill>
                            <a:srgbClr val="0D0033"/>
                          </a:solidFill>
                          <a:latin typeface="Calibri"/>
                        </a:rPr>
                        <a:t>Horizon-aware (learnable)</a:t>
                      </a:r>
                    </a:p>
                  </a:txBody>
                  <a:tcPr>
                    <a:solidFill>
                      <a:srgbClr val="FFFFFF"/>
                    </a:solidFill>
                  </a:tcPr>
                </a:tc>
              </a:tr>
              <a:tr h="373380">
                <a:tc>
                  <a:txBody>
                    <a:bodyPr/>
                    <a:lstStyle/>
                    <a:p>
                      <a:pPr algn="l"/>
                      <a:r>
                        <a:rPr sz="950">
                          <a:solidFill>
                            <a:srgbClr val="0D0033"/>
                          </a:solidFill>
                          <a:latin typeface="Calibri"/>
                        </a:rPr>
                        <a:t>Metric (avg NSE)</a:t>
                      </a:r>
                    </a:p>
                  </a:txBody>
                  <a:tcPr>
                    <a:solidFill>
                      <a:srgbClr val="F0F4F8"/>
                    </a:solidFill>
                  </a:tcPr>
                </a:tc>
                <a:tc>
                  <a:txBody>
                    <a:bodyPr/>
                    <a:lstStyle/>
                    <a:p>
                      <a:pPr algn="ctr"/>
                      <a:r>
                        <a:rPr sz="950">
                          <a:solidFill>
                            <a:srgbClr val="0D0033"/>
                          </a:solidFill>
                          <a:latin typeface="Calibri"/>
                        </a:rPr>
                        <a:t>0,75–0,80</a:t>
                      </a:r>
                    </a:p>
                  </a:txBody>
                  <a:tcPr>
                    <a:solidFill>
                      <a:srgbClr val="F0F4F8"/>
                    </a:solidFill>
                  </a:tcPr>
                </a:tc>
                <a:tc>
                  <a:txBody>
                    <a:bodyPr/>
                    <a:lstStyle/>
                    <a:p>
                      <a:pPr algn="ctr"/>
                      <a:r>
                        <a:rPr sz="950">
                          <a:solidFill>
                            <a:srgbClr val="0D0033"/>
                          </a:solidFill>
                          <a:latin typeface="Calibri"/>
                        </a:rPr>
                        <a:t>0,82–0,90 (est.)</a:t>
                      </a:r>
                    </a:p>
                  </a:txBody>
                  <a:tcPr>
                    <a:solidFill>
                      <a:srgbClr val="F0F4F8"/>
                    </a:solidFill>
                  </a:tcPr>
                </a:tc>
              </a:tr>
              <a:tr h="373380">
                <a:tc>
                  <a:txBody>
                    <a:bodyPr/>
                    <a:lstStyle/>
                    <a:p>
                      <a:pPr algn="l"/>
                      <a:r>
                        <a:rPr sz="950">
                          <a:solidFill>
                            <a:srgbClr val="0D0033"/>
                          </a:solidFill>
                          <a:latin typeface="Calibri"/>
                        </a:rPr>
                        <a:t>Inference time</a:t>
                      </a:r>
                    </a:p>
                  </a:txBody>
                  <a:tcPr>
                    <a:solidFill>
                      <a:srgbClr val="FFFFFF"/>
                    </a:solidFill>
                  </a:tcPr>
                </a:tc>
                <a:tc>
                  <a:txBody>
                    <a:bodyPr/>
                    <a:lstStyle/>
                    <a:p>
                      <a:pPr algn="ctr"/>
                      <a:r>
                        <a:rPr sz="950">
                          <a:solidFill>
                            <a:srgbClr val="0D0033"/>
                          </a:solidFill>
                          <a:latin typeface="Calibri"/>
                        </a:rPr>
                        <a:t>&lt; 0,5s / hồ</a:t>
                      </a:r>
                    </a:p>
                  </a:txBody>
                  <a:tcPr>
                    <a:solidFill>
                      <a:srgbClr val="FFFFFF"/>
                    </a:solidFill>
                  </a:tcPr>
                </a:tc>
                <a:tc>
                  <a:txBody>
                    <a:bodyPr/>
                    <a:lstStyle/>
                    <a:p>
                      <a:pPr algn="ctr"/>
                      <a:r>
                        <a:rPr sz="950">
                          <a:solidFill>
                            <a:srgbClr val="0D0033"/>
                          </a:solidFill>
                          <a:latin typeface="Calibri"/>
                        </a:rPr>
                        <a:t>&lt; 0,9s / hồ</a:t>
                      </a:r>
                    </a:p>
                  </a:txBody>
                  <a:tcPr>
                    <a:solidFill>
                      <a:srgbClr val="FFFFFF"/>
                    </a:solidFill>
                  </a:tcPr>
                </a:tc>
              </a:tr>
            </a:tbl>
          </a:graphicData>
        </a:graphic>
      </p:graphicFrame>
      <p:sp>
        <p:nvSpPr>
          <p:cNvPr id="106" name="Rectangle 105"/>
          <p:cNvSpPr/>
          <p:nvPr/>
        </p:nvSpPr>
        <p:spPr>
          <a:xfrm>
            <a:off x="320040" y="38569392"/>
            <a:ext cx="18800064" cy="54864"/>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320040" y="38642544"/>
            <a:ext cx="18800064"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320040" y="38642544"/>
            <a:ext cx="640080" cy="50292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20040" y="38642544"/>
            <a:ext cx="640080" cy="502920"/>
          </a:xfrm>
          <a:prstGeom prst="rect">
            <a:avLst/>
          </a:prstGeom>
          <a:noFill/>
        </p:spPr>
        <p:txBody>
          <a:bodyPr wrap="square">
            <a:spAutoFit/>
          </a:bodyPr>
          <a:lstStyle/>
          <a:p>
            <a:pPr algn="ctr"/>
            <a:r>
              <a:rPr sz="1800" b="1" i="0">
                <a:solidFill>
                  <a:srgbClr val="FFB300"/>
                </a:solidFill>
                <a:latin typeface="Calibri"/>
              </a:rPr>
              <a:t>09</a:t>
            </a:r>
          </a:p>
        </p:txBody>
      </p:sp>
      <p:sp>
        <p:nvSpPr>
          <p:cNvPr id="110" name="TextBox 109"/>
          <p:cNvSpPr txBox="1"/>
          <p:nvPr/>
        </p:nvSpPr>
        <p:spPr>
          <a:xfrm>
            <a:off x="1051560" y="38642544"/>
            <a:ext cx="18068544" cy="502920"/>
          </a:xfrm>
          <a:prstGeom prst="rect">
            <a:avLst/>
          </a:prstGeom>
          <a:noFill/>
        </p:spPr>
        <p:txBody>
          <a:bodyPr wrap="square">
            <a:spAutoFit/>
          </a:bodyPr>
          <a:lstStyle/>
          <a:p>
            <a:pPr algn="l"/>
            <a:r>
              <a:rPr sz="1500" b="1" i="0">
                <a:solidFill>
                  <a:srgbClr val="FFFFFF"/>
                </a:solidFill>
                <a:latin typeface="Calibri"/>
              </a:rPr>
              <a:t>KẾT LUẬN &amp; HƯỚNG PHÁT TRIỂN</a:t>
            </a:r>
          </a:p>
        </p:txBody>
      </p:sp>
      <p:sp>
        <p:nvSpPr>
          <p:cNvPr id="111" name="Rectangle 110"/>
          <p:cNvSpPr/>
          <p:nvPr/>
        </p:nvSpPr>
        <p:spPr>
          <a:xfrm>
            <a:off x="320040" y="39172896"/>
            <a:ext cx="18800064" cy="4773168"/>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11480" y="39282624"/>
            <a:ext cx="9262872" cy="4526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300" b="1" i="0">
                <a:solidFill>
                  <a:srgbClr val="0D47A1"/>
                </a:solidFill>
                <a:latin typeface="Calibri"/>
              </a:rPr>
              <a:t>Kết luận:</a:t>
            </a:r>
          </a:p>
          <a:p>
            <a:pPr algn="l"/>
            <a:r>
              <a:rPr sz="1150" b="0" i="0">
                <a:solidFill>
                  <a:srgbClr val="0D0033"/>
                </a:solidFill>
                <a:latin typeface="Calibri"/>
              </a:rPr>
              <a:t>(1) FloodLSTM v2 đạt NSE trung bình 0,84 trên 16 hồ chứa lưu vực VGTB, cải thiện đáng kể so với v1 (0,75–0,80) nhờ kiến trúc Bi-LSTM Encoder kết hợp Cross-Attention.</a:t>
            </a:r>
          </a:p>
          <a:p>
            <a:pPr algn="l"/>
            <a:r>
              <a:rPr sz="500" b="0" i="0">
                <a:solidFill>
                  <a:srgbClr val="0D0033"/>
                </a:solidFill>
                <a:latin typeface="Calibri"/>
              </a:rPr>
              <a:t/>
            </a:r>
          </a:p>
          <a:p>
            <a:pPr algn="l"/>
            <a:r>
              <a:rPr sz="1150" b="0" i="0">
                <a:solidFill>
                  <a:srgbClr val="0D0033"/>
                </a:solidFill>
                <a:latin typeface="Calibri"/>
              </a:rPr>
              <a:t>(2) Dự báo xác suất 7 ngày (168h) với 7 phân vị P5–P95 cung cấp thông tin khoảng tin cậy đầy đủ cho ra quyết định vận hành hồ chứa, đặc biệt trong tình huống bất định cao.</a:t>
            </a:r>
          </a:p>
          <a:p>
            <a:pPr algn="l"/>
            <a:r>
              <a:rPr sz="500" b="0" i="0">
                <a:solidFill>
                  <a:srgbClr val="0D0033"/>
                </a:solidFill>
                <a:latin typeface="Calibri"/>
              </a:rPr>
              <a:t/>
            </a:r>
          </a:p>
          <a:p>
            <a:pPr algn="l"/>
            <a:r>
              <a:rPr sz="1150" b="0" i="0">
                <a:solidFill>
                  <a:srgbClr val="0D0033"/>
                </a:solidFill>
                <a:latin typeface="Calibri"/>
              </a:rPr>
              <a:t>(3) NWP Fusion Layer cho phép tích hợp linh hoạt nhiều nguồn dự báo thời tiết, hệ thống vẫn hoạt động khi một nguồn NWP không khả dụng.</a:t>
            </a:r>
          </a:p>
        </p:txBody>
      </p:sp>
      <p:sp>
        <p:nvSpPr>
          <p:cNvPr id="113" name="Rectangle 112"/>
          <p:cNvSpPr/>
          <p:nvPr/>
        </p:nvSpPr>
        <p:spPr>
          <a:xfrm>
            <a:off x="9765792" y="39282624"/>
            <a:ext cx="9262872" cy="4526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300" b="1" i="0">
                <a:solidFill>
                  <a:srgbClr val="0D47A1"/>
                </a:solidFill>
                <a:latin typeface="Calibri"/>
              </a:rPr>
              <a:t>Hướng nghiên cứu tiếp theo:</a:t>
            </a:r>
          </a:p>
          <a:p>
            <a:pPr algn="l"/>
            <a:r>
              <a:rPr sz="1150" b="0" i="0">
                <a:solidFill>
                  <a:srgbClr val="0D0033"/>
                </a:solidFill>
                <a:latin typeface="Calibri"/>
              </a:rPr>
              <a:t>• Tích hợp ảnh vệ tinh (radar mưa) làm feature bổ sung cho hindcast encoder.</a:t>
            </a:r>
          </a:p>
          <a:p>
            <a:pPr algn="l"/>
            <a:r>
              <a:rPr sz="1150" b="0" i="0">
                <a:solidFill>
                  <a:srgbClr val="0D0033"/>
                </a:solidFill>
                <a:latin typeface="Calibri"/>
              </a:rPr>
              <a:t>• Triển khai online learning: cập nhật nhỏ model mỗi ngày khi có dữ liệu quan trắc mới → giảm data drift.</a:t>
            </a:r>
          </a:p>
          <a:p>
            <a:pPr algn="l"/>
            <a:r>
              <a:rPr sz="1150" b="0" i="0">
                <a:solidFill>
                  <a:srgbClr val="0D0033"/>
                </a:solidFill>
                <a:latin typeface="Calibri"/>
              </a:rPr>
              <a:t>• Tích hợp vào Hệ thống Hỗ trợ Quyết định (DSS) vận hành hồ chứa thời gian thực, kết nối SCADA hồ chứa.</a:t>
            </a:r>
          </a:p>
          <a:p>
            <a:pPr algn="l"/>
            <a:r>
              <a:rPr sz="1150" b="0" i="0">
                <a:solidFill>
                  <a:srgbClr val="0D0033"/>
                </a:solidFill>
                <a:latin typeface="Calibri"/>
              </a:rPr>
              <a:t>• Mở rộng sang các lưu vực khác: sông Hương (Thừa Thiên Huế), sông Trà Khúc (Quảng Ngãi).</a:t>
            </a:r>
          </a:p>
          <a:p>
            <a:pPr algn="l"/>
            <a:r>
              <a:rPr sz="1150" b="0" i="0">
                <a:solidFill>
                  <a:srgbClr val="0D0033"/>
                </a:solidFill>
                <a:latin typeface="Calibri"/>
              </a:rPr>
              <a:t>• Fine-tuning riêng cho từng hồ chứa bằng Partial Freezing (freeze Encoder, unlock Decoder + Output Head).</a:t>
            </a:r>
          </a:p>
        </p:txBody>
      </p:sp>
      <p:sp>
        <p:nvSpPr>
          <p:cNvPr id="114" name="Rectangle 113"/>
          <p:cNvSpPr/>
          <p:nvPr/>
        </p:nvSpPr>
        <p:spPr>
          <a:xfrm>
            <a:off x="320040" y="44083224"/>
            <a:ext cx="18800064" cy="4572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320040" y="44083224"/>
            <a:ext cx="640080" cy="45720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20040" y="44083224"/>
            <a:ext cx="640080" cy="457200"/>
          </a:xfrm>
          <a:prstGeom prst="rect">
            <a:avLst/>
          </a:prstGeom>
          <a:noFill/>
        </p:spPr>
        <p:txBody>
          <a:bodyPr wrap="square">
            <a:spAutoFit/>
          </a:bodyPr>
          <a:lstStyle/>
          <a:p>
            <a:pPr algn="ctr"/>
            <a:r>
              <a:rPr sz="1800" b="1" i="0">
                <a:solidFill>
                  <a:srgbClr val="FFB300"/>
                </a:solidFill>
                <a:latin typeface="Calibri"/>
              </a:rPr>
              <a:t>REF</a:t>
            </a:r>
          </a:p>
        </p:txBody>
      </p:sp>
      <p:sp>
        <p:nvSpPr>
          <p:cNvPr id="117" name="TextBox 116"/>
          <p:cNvSpPr txBox="1"/>
          <p:nvPr/>
        </p:nvSpPr>
        <p:spPr>
          <a:xfrm>
            <a:off x="1051560" y="44083224"/>
            <a:ext cx="18068544" cy="457200"/>
          </a:xfrm>
          <a:prstGeom prst="rect">
            <a:avLst/>
          </a:prstGeom>
          <a:noFill/>
        </p:spPr>
        <p:txBody>
          <a:bodyPr wrap="square">
            <a:spAutoFit/>
          </a:bodyPr>
          <a:lstStyle/>
          <a:p>
            <a:pPr algn="l"/>
            <a:r>
              <a:rPr sz="1500" b="1" i="0">
                <a:solidFill>
                  <a:srgbClr val="FFFFFF"/>
                </a:solidFill>
                <a:latin typeface="Calibri"/>
              </a:rPr>
              <a:t>TÀI LIỆU THAM KHẢO</a:t>
            </a:r>
          </a:p>
        </p:txBody>
      </p:sp>
      <p:sp>
        <p:nvSpPr>
          <p:cNvPr id="118" name="Rectangle 117"/>
          <p:cNvSpPr/>
          <p:nvPr/>
        </p:nvSpPr>
        <p:spPr>
          <a:xfrm>
            <a:off x="320040" y="44558712"/>
            <a:ext cx="18800064" cy="2999232"/>
          </a:xfrm>
          <a:prstGeom prst="rect">
            <a:avLst/>
          </a:prstGeom>
          <a:solidFill>
            <a:srgbClr val="F0F4F8"/>
          </a:solid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11480" y="44613576"/>
            <a:ext cx="9262872" cy="2852928"/>
          </a:xfrm>
          <a:prstGeom prst="rect">
            <a:avLst/>
          </a:prstGeom>
          <a:noFill/>
        </p:spPr>
        <p:txBody>
          <a:bodyPr wrap="square">
            <a:spAutoFit/>
          </a:bodyPr>
          <a:lstStyle/>
          <a:p>
            <a:pPr algn="l"/>
            <a:r>
              <a:rPr sz="1000" b="0" i="0">
                <a:solidFill>
                  <a:srgbClr val="424242"/>
                </a:solidFill>
                <a:latin typeface="Calibri"/>
              </a:rPr>
              <a:t>[1] Kratzert, F. et al. (2019). Rainfall–Runoff Modelling Using LSTM-Based
     Models. Hydrol. Earth Syst. Sci., 23, 5089–5110.
[2] Hochreiter, S. &amp; Schmidhuber, J. (1997). Long Short-Term Memory.
     Neural Computation, 9(8), 1735–1780.
[3] Google Research (2023). Google Flood Forecasting — Technical Report.
     Google DeepMind, Mountain View, CA.
[4] Nearing, G. et al. (2024). Global prediction of extreme floods in
     ungauged watersheds. Nature, 627, 559–563.
[5] Choi, J. et al. (2020). Probabilistic Flood Prediction using LSTM.
     J. Hydrology, 590, 125506.</a:t>
            </a:r>
          </a:p>
        </p:txBody>
      </p:sp>
      <p:sp>
        <p:nvSpPr>
          <p:cNvPr id="120" name="TextBox 119"/>
          <p:cNvSpPr txBox="1"/>
          <p:nvPr/>
        </p:nvSpPr>
        <p:spPr>
          <a:xfrm>
            <a:off x="9765792" y="44613576"/>
            <a:ext cx="9262872" cy="2852928"/>
          </a:xfrm>
          <a:prstGeom prst="rect">
            <a:avLst/>
          </a:prstGeom>
          <a:noFill/>
        </p:spPr>
        <p:txBody>
          <a:bodyPr wrap="square">
            <a:spAutoFit/>
          </a:bodyPr>
          <a:lstStyle/>
          <a:p>
            <a:pPr algn="l"/>
            <a:r>
              <a:rPr sz="1000" b="0" i="0">
                <a:solidFill>
                  <a:srgbClr val="424242"/>
                </a:solidFill>
                <a:latin typeface="Calibri"/>
              </a:rPr>
              <a:t>[6] Lim, B. et al. (2021). Temporal Fusion Transformers for interpretable
     multi-horizon time series forecasting. Int. J. Forecasting, 37(4).
[7] Bai, P. et al. (2023). Multi-reservoir inflow prediction with deep
     learning. Water Resources Research, 59(3).
[8] Box, G.E.P. &amp; Jenkins, G.M. (1976). Time Series Analysis:
     Forecasting and Control. Holden-Day, San Francisco.
[9] Le, X.H. et al. (2021). Application of LSTM for flood prediction in
     the Vu Gia – Thu Bon basin. Appl. Sci., 11, 3643.
[10] NCHMF (2024). Báo cáo quan trắc thủy văn VGTB 2022–2024.
     Trung tâm Dự báo KTTV Quốc gia, Hà Nội.</a:t>
            </a:r>
          </a:p>
        </p:txBody>
      </p:sp>
      <p:sp>
        <p:nvSpPr>
          <p:cNvPr id="121" name="Rectangle 120"/>
          <p:cNvSpPr/>
          <p:nvPr/>
        </p:nvSpPr>
        <p:spPr>
          <a:xfrm>
            <a:off x="0" y="47695104"/>
            <a:ext cx="19440144" cy="1051560"/>
          </a:xfrm>
          <a:prstGeom prst="rect">
            <a:avLst/>
          </a:prstGeom>
          <a:solidFill>
            <a:srgbClr val="0D4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0" y="47695104"/>
            <a:ext cx="19440144" cy="64008"/>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74320" y="47804832"/>
            <a:ext cx="18891504" cy="594360"/>
          </a:xfrm>
          <a:prstGeom prst="rect">
            <a:avLst/>
          </a:prstGeom>
          <a:noFill/>
        </p:spPr>
        <p:txBody>
          <a:bodyPr wrap="square">
            <a:spAutoFit/>
          </a:bodyPr>
          <a:lstStyle/>
          <a:p>
            <a:pPr algn="ctr"/>
            <a:r>
              <a:rPr sz="1100" b="0" i="0">
                <a:solidFill>
                  <a:srgbClr val="42A5F5"/>
                </a:solidFill>
                <a:latin typeface="Calibri"/>
              </a:rPr>
              <a:t>Khoa Kỹ thuật Xây dựng Công trình Thủy  |  Trường Đại học Bách Khoa Đà Nẵng  |  annguyen14032004@gmail.com  |  Mã đề tài: NCKH-2026-THUY-LSTM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